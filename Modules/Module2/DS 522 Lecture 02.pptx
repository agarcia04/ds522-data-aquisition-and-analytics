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282" r:id="rId4"/>
    <p:sldId id="289" r:id="rId5"/>
    <p:sldId id="288" r:id="rId6"/>
    <p:sldId id="290" r:id="rId7"/>
    <p:sldId id="291" r:id="rId8"/>
    <p:sldId id="292" r:id="rId9"/>
    <p:sldId id="293" r:id="rId10"/>
    <p:sldId id="294" r:id="rId11"/>
    <p:sldId id="295" r:id="rId12"/>
    <p:sldId id="281" r:id="rId13"/>
    <p:sldId id="283" r:id="rId14"/>
    <p:sldId id="284" r:id="rId15"/>
    <p:sldId id="303" r:id="rId16"/>
    <p:sldId id="258" r:id="rId17"/>
    <p:sldId id="287" r:id="rId18"/>
    <p:sldId id="261" r:id="rId19"/>
    <p:sldId id="263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5" r:id="rId28"/>
    <p:sldId id="306" r:id="rId29"/>
    <p:sldId id="317" r:id="rId30"/>
    <p:sldId id="307" r:id="rId31"/>
    <p:sldId id="308" r:id="rId32"/>
    <p:sldId id="309" r:id="rId33"/>
    <p:sldId id="311" r:id="rId34"/>
    <p:sldId id="310" r:id="rId35"/>
    <p:sldId id="312" r:id="rId36"/>
    <p:sldId id="313" r:id="rId37"/>
    <p:sldId id="314" r:id="rId38"/>
    <p:sldId id="315" r:id="rId39"/>
    <p:sldId id="318" r:id="rId40"/>
    <p:sldId id="319" r:id="rId41"/>
    <p:sldId id="280" r:id="rId42"/>
    <p:sldId id="279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98F8BD-9298-FB97-C503-054D6982BEF8}" v="1421" dt="2024-08-29T19:07:22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66E9AE-0F49-4324-B5C6-88E68B14699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1C3785-09CF-43EB-8AC1-600A979343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Structures and Sequences</a:t>
          </a:r>
        </a:p>
      </dgm:t>
    </dgm:pt>
    <dgm:pt modelId="{D38AD96B-D14D-4CA5-A2E1-1B42EF3BF6E3}" type="parTrans" cxnId="{B0D541D8-8179-41A2-8E8F-305E7686979B}">
      <dgm:prSet/>
      <dgm:spPr/>
      <dgm:t>
        <a:bodyPr/>
        <a:lstStyle/>
        <a:p>
          <a:endParaRPr lang="en-US"/>
        </a:p>
      </dgm:t>
    </dgm:pt>
    <dgm:pt modelId="{0AF71248-7037-48E7-870B-71A3ABFDCC52}" type="sibTrans" cxnId="{B0D541D8-8179-41A2-8E8F-305E7686979B}">
      <dgm:prSet/>
      <dgm:spPr/>
      <dgm:t>
        <a:bodyPr/>
        <a:lstStyle/>
        <a:p>
          <a:endParaRPr lang="en-US"/>
        </a:p>
      </dgm:t>
    </dgm:pt>
    <dgm:pt modelId="{61CC6EFB-F0B5-43BD-B372-5155F1F2E3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Built-in Function</a:t>
          </a:r>
        </a:p>
      </dgm:t>
    </dgm:pt>
    <dgm:pt modelId="{3BB07ED1-0090-49C9-9211-C32C56EA2B85}" type="parTrans" cxnId="{182F22CE-1E53-4B0F-90B6-505FBAA5482F}">
      <dgm:prSet/>
      <dgm:spPr/>
      <dgm:t>
        <a:bodyPr/>
        <a:lstStyle/>
        <a:p>
          <a:endParaRPr lang="en-US"/>
        </a:p>
      </dgm:t>
    </dgm:pt>
    <dgm:pt modelId="{8D25360E-8CAD-4D21-850F-7EE7450D68E0}" type="sibTrans" cxnId="{182F22CE-1E53-4B0F-90B6-505FBAA5482F}">
      <dgm:prSet/>
      <dgm:spPr/>
      <dgm:t>
        <a:bodyPr/>
        <a:lstStyle/>
        <a:p>
          <a:endParaRPr lang="en-US"/>
        </a:p>
      </dgm:t>
    </dgm:pt>
    <dgm:pt modelId="{63826752-95AE-4C66-AFC8-C6BF7671B4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User-defined Functions</a:t>
          </a:r>
        </a:p>
      </dgm:t>
    </dgm:pt>
    <dgm:pt modelId="{5F206145-B6FF-491C-A078-853944A76799}" type="parTrans" cxnId="{A2D46748-AB26-4C44-A432-DC2E8775B04E}">
      <dgm:prSet/>
      <dgm:spPr/>
      <dgm:t>
        <a:bodyPr/>
        <a:lstStyle/>
        <a:p>
          <a:endParaRPr lang="en-US"/>
        </a:p>
      </dgm:t>
    </dgm:pt>
    <dgm:pt modelId="{522A9073-1336-4448-8CC9-5561C9F9BC97}" type="sibTrans" cxnId="{A2D46748-AB26-4C44-A432-DC2E8775B04E}">
      <dgm:prSet/>
      <dgm:spPr/>
      <dgm:t>
        <a:bodyPr/>
        <a:lstStyle/>
        <a:p>
          <a:endParaRPr lang="en-US"/>
        </a:p>
      </dgm:t>
    </dgm:pt>
    <dgm:pt modelId="{936B9855-6D5E-41D8-8168-57BCF1BE30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Files</a:t>
          </a:r>
        </a:p>
      </dgm:t>
    </dgm:pt>
    <dgm:pt modelId="{98BB40E2-AB2E-49BE-AD80-41851144DA77}" type="parTrans" cxnId="{22C1EF49-86CA-476F-94B8-0470E1E9FC1F}">
      <dgm:prSet/>
      <dgm:spPr/>
      <dgm:t>
        <a:bodyPr/>
        <a:lstStyle/>
        <a:p>
          <a:endParaRPr lang="en-US"/>
        </a:p>
      </dgm:t>
    </dgm:pt>
    <dgm:pt modelId="{8A659DC2-EE4B-47BF-8499-61510014E8B8}" type="sibTrans" cxnId="{22C1EF49-86CA-476F-94B8-0470E1E9FC1F}">
      <dgm:prSet/>
      <dgm:spPr/>
      <dgm:t>
        <a:bodyPr/>
        <a:lstStyle/>
        <a:p>
          <a:endParaRPr lang="en-US"/>
        </a:p>
      </dgm:t>
    </dgm:pt>
    <dgm:pt modelId="{10CA44A9-4959-499A-A363-A08535EF544F}" type="pres">
      <dgm:prSet presAssocID="{9B66E9AE-0F49-4324-B5C6-88E68B146997}" presName="root" presStyleCnt="0">
        <dgm:presLayoutVars>
          <dgm:dir/>
          <dgm:resizeHandles val="exact"/>
        </dgm:presLayoutVars>
      </dgm:prSet>
      <dgm:spPr/>
    </dgm:pt>
    <dgm:pt modelId="{6AF4BAF7-B9FE-4DA8-9DC9-E08E6821873E}" type="pres">
      <dgm:prSet presAssocID="{AF1C3785-09CF-43EB-8AC1-600A9793436B}" presName="compNode" presStyleCnt="0"/>
      <dgm:spPr/>
    </dgm:pt>
    <dgm:pt modelId="{F488F0B4-9046-4DE5-9E0F-ABFD6EA097DD}" type="pres">
      <dgm:prSet presAssocID="{AF1C3785-09CF-43EB-8AC1-600A9793436B}" presName="iconRect" presStyleLbl="node1" presStyleIdx="0" presStyleCnt="4" custLinFactX="3358" custLinFactNeighborX="100000" custLinFactNeighborY="-422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2EED07-AF1D-487C-95D2-C75440F94147}" type="pres">
      <dgm:prSet presAssocID="{AF1C3785-09CF-43EB-8AC1-600A9793436B}" presName="spaceRect" presStyleCnt="0"/>
      <dgm:spPr/>
    </dgm:pt>
    <dgm:pt modelId="{BFC99E5C-FC82-4D28-A089-332541DBA54D}" type="pres">
      <dgm:prSet presAssocID="{AF1C3785-09CF-43EB-8AC1-600A9793436B}" presName="textRect" presStyleLbl="revTx" presStyleIdx="0" presStyleCnt="4" custLinFactNeighborX="46511" custLinFactNeighborY="-4748">
        <dgm:presLayoutVars>
          <dgm:chMax val="1"/>
          <dgm:chPref val="1"/>
        </dgm:presLayoutVars>
      </dgm:prSet>
      <dgm:spPr/>
    </dgm:pt>
    <dgm:pt modelId="{09907525-69D6-4396-A451-BC2DD2C2C42C}" type="pres">
      <dgm:prSet presAssocID="{0AF71248-7037-48E7-870B-71A3ABFDCC52}" presName="sibTrans" presStyleCnt="0"/>
      <dgm:spPr/>
    </dgm:pt>
    <dgm:pt modelId="{5F0D6DBC-12D5-4B57-888E-3EBC1817168B}" type="pres">
      <dgm:prSet presAssocID="{61CC6EFB-F0B5-43BD-B372-5155F1F2E387}" presName="compNode" presStyleCnt="0"/>
      <dgm:spPr/>
    </dgm:pt>
    <dgm:pt modelId="{B99565C1-B5F5-490F-9BEE-E0D201EBDBB8}" type="pres">
      <dgm:prSet presAssocID="{61CC6EFB-F0B5-43BD-B372-5155F1F2E387}" presName="iconRect" presStyleLbl="node1" presStyleIdx="1" presStyleCnt="4" custLinFactX="47818" custLinFactNeighborX="100000" custLinFactNeighborY="-422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738D69B-67B1-42E1-AB89-C0AAAA7C67A8}" type="pres">
      <dgm:prSet presAssocID="{61CC6EFB-F0B5-43BD-B372-5155F1F2E387}" presName="spaceRect" presStyleCnt="0"/>
      <dgm:spPr/>
    </dgm:pt>
    <dgm:pt modelId="{14D8793B-C26F-4D11-81B9-DBB9A4ED0B3A}" type="pres">
      <dgm:prSet presAssocID="{61CC6EFB-F0B5-43BD-B372-5155F1F2E387}" presName="textRect" presStyleLbl="revTx" presStyleIdx="1" presStyleCnt="4" custLinFactNeighborX="65088" custLinFactNeighborY="-4748">
        <dgm:presLayoutVars>
          <dgm:chMax val="1"/>
          <dgm:chPref val="1"/>
        </dgm:presLayoutVars>
      </dgm:prSet>
      <dgm:spPr/>
    </dgm:pt>
    <dgm:pt modelId="{19ABC814-5F4A-4EB7-BE01-B84328D071F2}" type="pres">
      <dgm:prSet presAssocID="{8D25360E-8CAD-4D21-850F-7EE7450D68E0}" presName="sibTrans" presStyleCnt="0"/>
      <dgm:spPr/>
    </dgm:pt>
    <dgm:pt modelId="{5FD5FB0E-FFA4-4754-AF69-0699060C558F}" type="pres">
      <dgm:prSet presAssocID="{63826752-95AE-4C66-AFC8-C6BF7671B4CB}" presName="compNode" presStyleCnt="0"/>
      <dgm:spPr/>
    </dgm:pt>
    <dgm:pt modelId="{8433BDCF-688D-40A8-9AA6-8E6C43D8F253}" type="pres">
      <dgm:prSet presAssocID="{63826752-95AE-4C66-AFC8-C6BF7671B4CB}" presName="iconRect" presStyleLbl="node1" presStyleIdx="2" presStyleCnt="4" custLinFactX="-200000" custLinFactY="100000" custLinFactNeighborX="-218963" custLinFactNeighborY="165941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CE5437D-286B-46B2-91DD-72414E3B8C81}" type="pres">
      <dgm:prSet presAssocID="{63826752-95AE-4C66-AFC8-C6BF7671B4CB}" presName="spaceRect" presStyleCnt="0"/>
      <dgm:spPr/>
    </dgm:pt>
    <dgm:pt modelId="{7E7C3141-0557-48B0-85CE-342B2182913C}" type="pres">
      <dgm:prSet presAssocID="{63826752-95AE-4C66-AFC8-C6BF7671B4CB}" presName="textRect" presStyleLbl="revTx" presStyleIdx="2" presStyleCnt="4" custLinFactX="-82480" custLinFactY="100000" custLinFactNeighborX="-100000" custLinFactNeighborY="186372">
        <dgm:presLayoutVars>
          <dgm:chMax val="1"/>
          <dgm:chPref val="1"/>
        </dgm:presLayoutVars>
      </dgm:prSet>
      <dgm:spPr/>
    </dgm:pt>
    <dgm:pt modelId="{FB58DE77-3962-4FE6-BA34-1783D3637B7A}" type="pres">
      <dgm:prSet presAssocID="{522A9073-1336-4448-8CC9-5561C9F9BC97}" presName="sibTrans" presStyleCnt="0"/>
      <dgm:spPr/>
    </dgm:pt>
    <dgm:pt modelId="{43D92C7B-361E-4751-9695-8447084B9149}" type="pres">
      <dgm:prSet presAssocID="{936B9855-6D5E-41D8-8168-57BCF1BE30D6}" presName="compNode" presStyleCnt="0"/>
      <dgm:spPr/>
    </dgm:pt>
    <dgm:pt modelId="{67FBB2A8-5852-4F36-99C4-0E1878F8BABF}" type="pres">
      <dgm:prSet presAssocID="{936B9855-6D5E-41D8-8168-57BCF1BE30D6}" presName="iconRect" presStyleLbl="node1" presStyleIdx="3" presStyleCnt="4" custLinFactX="52634" custLinFactNeighborX="100000" custLinFactNeighborY="245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 with solid fill"/>
        </a:ext>
      </dgm:extLst>
    </dgm:pt>
    <dgm:pt modelId="{26DFFB6E-2E16-4BB6-9EF4-F35ADDF2CC62}" type="pres">
      <dgm:prSet presAssocID="{936B9855-6D5E-41D8-8168-57BCF1BE30D6}" presName="spaceRect" presStyleCnt="0"/>
      <dgm:spPr/>
    </dgm:pt>
    <dgm:pt modelId="{D040E13C-DDDB-4954-AD6B-2E62AB67A5E1}" type="pres">
      <dgm:prSet presAssocID="{936B9855-6D5E-41D8-8168-57BCF1BE30D6}" presName="textRect" presStyleLbl="revTx" presStyleIdx="3" presStyleCnt="4" custScaleX="75679" custLinFactNeighborX="68622" custLinFactNeighborY="2761">
        <dgm:presLayoutVars>
          <dgm:chMax val="1"/>
          <dgm:chPref val="1"/>
        </dgm:presLayoutVars>
      </dgm:prSet>
      <dgm:spPr/>
    </dgm:pt>
  </dgm:ptLst>
  <dgm:cxnLst>
    <dgm:cxn modelId="{D2BD122A-4D0A-4C27-A30C-C765228FC790}" type="presOf" srcId="{AF1C3785-09CF-43EB-8AC1-600A9793436B}" destId="{BFC99E5C-FC82-4D28-A089-332541DBA54D}" srcOrd="0" destOrd="0" presId="urn:microsoft.com/office/officeart/2018/2/layout/IconLabelList"/>
    <dgm:cxn modelId="{A2D46748-AB26-4C44-A432-DC2E8775B04E}" srcId="{9B66E9AE-0F49-4324-B5C6-88E68B146997}" destId="{63826752-95AE-4C66-AFC8-C6BF7671B4CB}" srcOrd="2" destOrd="0" parTransId="{5F206145-B6FF-491C-A078-853944A76799}" sibTransId="{522A9073-1336-4448-8CC9-5561C9F9BC97}"/>
    <dgm:cxn modelId="{22C1EF49-86CA-476F-94B8-0470E1E9FC1F}" srcId="{9B66E9AE-0F49-4324-B5C6-88E68B146997}" destId="{936B9855-6D5E-41D8-8168-57BCF1BE30D6}" srcOrd="3" destOrd="0" parTransId="{98BB40E2-AB2E-49BE-AD80-41851144DA77}" sibTransId="{8A659DC2-EE4B-47BF-8499-61510014E8B8}"/>
    <dgm:cxn modelId="{89476C83-64B5-4EBB-B3AE-DFEAEBE708AA}" type="presOf" srcId="{936B9855-6D5E-41D8-8168-57BCF1BE30D6}" destId="{D040E13C-DDDB-4954-AD6B-2E62AB67A5E1}" srcOrd="0" destOrd="0" presId="urn:microsoft.com/office/officeart/2018/2/layout/IconLabelList"/>
    <dgm:cxn modelId="{A4D6F198-F1A3-4633-8EE3-477FC6B87B27}" type="presOf" srcId="{61CC6EFB-F0B5-43BD-B372-5155F1F2E387}" destId="{14D8793B-C26F-4D11-81B9-DBB9A4ED0B3A}" srcOrd="0" destOrd="0" presId="urn:microsoft.com/office/officeart/2018/2/layout/IconLabelList"/>
    <dgm:cxn modelId="{FBFA43BD-43CB-41B6-8E4F-FF4AEC28D655}" type="presOf" srcId="{9B66E9AE-0F49-4324-B5C6-88E68B146997}" destId="{10CA44A9-4959-499A-A363-A08535EF544F}" srcOrd="0" destOrd="0" presId="urn:microsoft.com/office/officeart/2018/2/layout/IconLabelList"/>
    <dgm:cxn modelId="{182F22CE-1E53-4B0F-90B6-505FBAA5482F}" srcId="{9B66E9AE-0F49-4324-B5C6-88E68B146997}" destId="{61CC6EFB-F0B5-43BD-B372-5155F1F2E387}" srcOrd="1" destOrd="0" parTransId="{3BB07ED1-0090-49C9-9211-C32C56EA2B85}" sibTransId="{8D25360E-8CAD-4D21-850F-7EE7450D68E0}"/>
    <dgm:cxn modelId="{B0D541D8-8179-41A2-8E8F-305E7686979B}" srcId="{9B66E9AE-0F49-4324-B5C6-88E68B146997}" destId="{AF1C3785-09CF-43EB-8AC1-600A9793436B}" srcOrd="0" destOrd="0" parTransId="{D38AD96B-D14D-4CA5-A2E1-1B42EF3BF6E3}" sibTransId="{0AF71248-7037-48E7-870B-71A3ABFDCC52}"/>
    <dgm:cxn modelId="{60AF1ADC-21E7-4BBA-924C-C367851A7E46}" type="presOf" srcId="{63826752-95AE-4C66-AFC8-C6BF7671B4CB}" destId="{7E7C3141-0557-48B0-85CE-342B2182913C}" srcOrd="0" destOrd="0" presId="urn:microsoft.com/office/officeart/2018/2/layout/IconLabelList"/>
    <dgm:cxn modelId="{F1F32E6A-7B64-4EF4-8455-805CAF95E38C}" type="presParOf" srcId="{10CA44A9-4959-499A-A363-A08535EF544F}" destId="{6AF4BAF7-B9FE-4DA8-9DC9-E08E6821873E}" srcOrd="0" destOrd="0" presId="urn:microsoft.com/office/officeart/2018/2/layout/IconLabelList"/>
    <dgm:cxn modelId="{D777EA08-E9A4-4FAA-999C-80EABE9DDC91}" type="presParOf" srcId="{6AF4BAF7-B9FE-4DA8-9DC9-E08E6821873E}" destId="{F488F0B4-9046-4DE5-9E0F-ABFD6EA097DD}" srcOrd="0" destOrd="0" presId="urn:microsoft.com/office/officeart/2018/2/layout/IconLabelList"/>
    <dgm:cxn modelId="{D10C33EE-C123-44BF-9650-F9F6B9A5234D}" type="presParOf" srcId="{6AF4BAF7-B9FE-4DA8-9DC9-E08E6821873E}" destId="{072EED07-AF1D-487C-95D2-C75440F94147}" srcOrd="1" destOrd="0" presId="urn:microsoft.com/office/officeart/2018/2/layout/IconLabelList"/>
    <dgm:cxn modelId="{2A2DFD69-7BEE-4D14-A985-E052D5FABA47}" type="presParOf" srcId="{6AF4BAF7-B9FE-4DA8-9DC9-E08E6821873E}" destId="{BFC99E5C-FC82-4D28-A089-332541DBA54D}" srcOrd="2" destOrd="0" presId="urn:microsoft.com/office/officeart/2018/2/layout/IconLabelList"/>
    <dgm:cxn modelId="{43E97610-9AF8-42C8-8AB6-C508F208C901}" type="presParOf" srcId="{10CA44A9-4959-499A-A363-A08535EF544F}" destId="{09907525-69D6-4396-A451-BC2DD2C2C42C}" srcOrd="1" destOrd="0" presId="urn:microsoft.com/office/officeart/2018/2/layout/IconLabelList"/>
    <dgm:cxn modelId="{8FBFDC1D-CDED-42D8-807B-8C224F78124D}" type="presParOf" srcId="{10CA44A9-4959-499A-A363-A08535EF544F}" destId="{5F0D6DBC-12D5-4B57-888E-3EBC1817168B}" srcOrd="2" destOrd="0" presId="urn:microsoft.com/office/officeart/2018/2/layout/IconLabelList"/>
    <dgm:cxn modelId="{28162261-12BE-4C11-B701-DB9B47D048A9}" type="presParOf" srcId="{5F0D6DBC-12D5-4B57-888E-3EBC1817168B}" destId="{B99565C1-B5F5-490F-9BEE-E0D201EBDBB8}" srcOrd="0" destOrd="0" presId="urn:microsoft.com/office/officeart/2018/2/layout/IconLabelList"/>
    <dgm:cxn modelId="{8C463674-7616-4AAD-9C85-F6B67AE0F6F6}" type="presParOf" srcId="{5F0D6DBC-12D5-4B57-888E-3EBC1817168B}" destId="{C738D69B-67B1-42E1-AB89-C0AAAA7C67A8}" srcOrd="1" destOrd="0" presId="urn:microsoft.com/office/officeart/2018/2/layout/IconLabelList"/>
    <dgm:cxn modelId="{13F3E6FB-B417-4A34-8D55-7D465847A939}" type="presParOf" srcId="{5F0D6DBC-12D5-4B57-888E-3EBC1817168B}" destId="{14D8793B-C26F-4D11-81B9-DBB9A4ED0B3A}" srcOrd="2" destOrd="0" presId="urn:microsoft.com/office/officeart/2018/2/layout/IconLabelList"/>
    <dgm:cxn modelId="{464B68E6-6ADE-4088-A03C-646AB3271E40}" type="presParOf" srcId="{10CA44A9-4959-499A-A363-A08535EF544F}" destId="{19ABC814-5F4A-4EB7-BE01-B84328D071F2}" srcOrd="3" destOrd="0" presId="urn:microsoft.com/office/officeart/2018/2/layout/IconLabelList"/>
    <dgm:cxn modelId="{AF2EA0E0-1B62-4464-8F70-9F0C3417F5BE}" type="presParOf" srcId="{10CA44A9-4959-499A-A363-A08535EF544F}" destId="{5FD5FB0E-FFA4-4754-AF69-0699060C558F}" srcOrd="4" destOrd="0" presId="urn:microsoft.com/office/officeart/2018/2/layout/IconLabelList"/>
    <dgm:cxn modelId="{0650B158-7067-4E32-9B57-53A293448541}" type="presParOf" srcId="{5FD5FB0E-FFA4-4754-AF69-0699060C558F}" destId="{8433BDCF-688D-40A8-9AA6-8E6C43D8F253}" srcOrd="0" destOrd="0" presId="urn:microsoft.com/office/officeart/2018/2/layout/IconLabelList"/>
    <dgm:cxn modelId="{00446B57-4E3E-40B4-A872-5564800D172D}" type="presParOf" srcId="{5FD5FB0E-FFA4-4754-AF69-0699060C558F}" destId="{3CE5437D-286B-46B2-91DD-72414E3B8C81}" srcOrd="1" destOrd="0" presId="urn:microsoft.com/office/officeart/2018/2/layout/IconLabelList"/>
    <dgm:cxn modelId="{D739AB70-DDBD-4241-8477-34808A02C25F}" type="presParOf" srcId="{5FD5FB0E-FFA4-4754-AF69-0699060C558F}" destId="{7E7C3141-0557-48B0-85CE-342B2182913C}" srcOrd="2" destOrd="0" presId="urn:microsoft.com/office/officeart/2018/2/layout/IconLabelList"/>
    <dgm:cxn modelId="{14915F14-9947-441E-9C25-9D6B05326BC9}" type="presParOf" srcId="{10CA44A9-4959-499A-A363-A08535EF544F}" destId="{FB58DE77-3962-4FE6-BA34-1783D3637B7A}" srcOrd="5" destOrd="0" presId="urn:microsoft.com/office/officeart/2018/2/layout/IconLabelList"/>
    <dgm:cxn modelId="{4283874E-6356-4D6C-B3EB-4B84EBD53D17}" type="presParOf" srcId="{10CA44A9-4959-499A-A363-A08535EF544F}" destId="{43D92C7B-361E-4751-9695-8447084B9149}" srcOrd="6" destOrd="0" presId="urn:microsoft.com/office/officeart/2018/2/layout/IconLabelList"/>
    <dgm:cxn modelId="{15875778-C117-44E9-A397-3F6E94975EEA}" type="presParOf" srcId="{43D92C7B-361E-4751-9695-8447084B9149}" destId="{67FBB2A8-5852-4F36-99C4-0E1878F8BABF}" srcOrd="0" destOrd="0" presId="urn:microsoft.com/office/officeart/2018/2/layout/IconLabelList"/>
    <dgm:cxn modelId="{C569F830-0E8A-46DC-A14A-3C516B162CE0}" type="presParOf" srcId="{43D92C7B-361E-4751-9695-8447084B9149}" destId="{26DFFB6E-2E16-4BB6-9EF4-F35ADDF2CC62}" srcOrd="1" destOrd="0" presId="urn:microsoft.com/office/officeart/2018/2/layout/IconLabelList"/>
    <dgm:cxn modelId="{FD4DDD2F-1893-464C-8B71-9B52E52EA242}" type="presParOf" srcId="{43D92C7B-361E-4751-9695-8447084B9149}" destId="{D040E13C-DDDB-4954-AD6B-2E62AB67A5E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8A09B2-D192-44E2-BC97-23795D1EA2B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303FD8-E8A4-40B3-800C-546291FD1DAB}">
      <dgm:prSet/>
      <dgm:spPr/>
      <dgm:t>
        <a:bodyPr/>
        <a:lstStyle/>
        <a:p>
          <a:r>
            <a:rPr lang="en-US"/>
            <a:t>Each function can have multiple return statements. </a:t>
          </a:r>
        </a:p>
      </dgm:t>
    </dgm:pt>
    <dgm:pt modelId="{EB04E7F9-855C-41C4-9D56-5212B6B3A829}" type="parTrans" cxnId="{1E71EEDD-16C2-445B-9CD7-F6C288DB6566}">
      <dgm:prSet/>
      <dgm:spPr/>
      <dgm:t>
        <a:bodyPr/>
        <a:lstStyle/>
        <a:p>
          <a:endParaRPr lang="en-US"/>
        </a:p>
      </dgm:t>
    </dgm:pt>
    <dgm:pt modelId="{257AE822-A20B-45C1-B887-D7407939D355}" type="sibTrans" cxnId="{1E71EEDD-16C2-445B-9CD7-F6C288DB6566}">
      <dgm:prSet/>
      <dgm:spPr/>
      <dgm:t>
        <a:bodyPr/>
        <a:lstStyle/>
        <a:p>
          <a:endParaRPr lang="en-US"/>
        </a:p>
      </dgm:t>
    </dgm:pt>
    <dgm:pt modelId="{6CD819EA-2C6F-401B-9158-6B29A5AA2DFA}">
      <dgm:prSet/>
      <dgm:spPr/>
      <dgm:t>
        <a:bodyPr/>
        <a:lstStyle/>
        <a:p>
          <a:r>
            <a:rPr lang="en-US"/>
            <a:t>None is returned if there is no return statement in the function.</a:t>
          </a:r>
        </a:p>
      </dgm:t>
    </dgm:pt>
    <dgm:pt modelId="{6264C41F-9C3E-4C1C-B1AE-DE59A883DD5C}" type="parTrans" cxnId="{C794D182-5B05-4193-B283-958A65FE084B}">
      <dgm:prSet/>
      <dgm:spPr/>
      <dgm:t>
        <a:bodyPr/>
        <a:lstStyle/>
        <a:p>
          <a:endParaRPr lang="en-US"/>
        </a:p>
      </dgm:t>
    </dgm:pt>
    <dgm:pt modelId="{8F1C1278-7C29-463C-8BB9-9B03062F0523}" type="sibTrans" cxnId="{C794D182-5B05-4193-B283-958A65FE084B}">
      <dgm:prSet/>
      <dgm:spPr/>
      <dgm:t>
        <a:bodyPr/>
        <a:lstStyle/>
        <a:p>
          <a:endParaRPr lang="en-US"/>
        </a:p>
      </dgm:t>
    </dgm:pt>
    <dgm:pt modelId="{A668355F-A2E8-4AA1-9F9A-8F0CE8661A62}">
      <dgm:prSet/>
      <dgm:spPr/>
      <dgm:t>
        <a:bodyPr/>
        <a:lstStyle/>
        <a:p>
          <a:r>
            <a:rPr lang="en-US"/>
            <a:t>Each function has a </a:t>
          </a:r>
          <a:r>
            <a:rPr lang="en-US" i="1"/>
            <a:t>positional</a:t>
          </a:r>
          <a:r>
            <a:rPr lang="en-US"/>
            <a:t> arguments and </a:t>
          </a:r>
          <a:r>
            <a:rPr lang="en-US" i="1"/>
            <a:t>keyword </a:t>
          </a:r>
          <a:r>
            <a:rPr lang="en-US"/>
            <a:t>arguments.</a:t>
          </a:r>
        </a:p>
      </dgm:t>
    </dgm:pt>
    <dgm:pt modelId="{C0DF90C3-E938-4DFE-ABCB-3B8BBE883B86}" type="parTrans" cxnId="{328106D3-965C-40B8-937B-817272289936}">
      <dgm:prSet/>
      <dgm:spPr/>
      <dgm:t>
        <a:bodyPr/>
        <a:lstStyle/>
        <a:p>
          <a:endParaRPr lang="en-US"/>
        </a:p>
      </dgm:t>
    </dgm:pt>
    <dgm:pt modelId="{8579B041-64D3-4DF1-8D1A-7BE9B83EC60A}" type="sibTrans" cxnId="{328106D3-965C-40B8-937B-817272289936}">
      <dgm:prSet/>
      <dgm:spPr/>
      <dgm:t>
        <a:bodyPr/>
        <a:lstStyle/>
        <a:p>
          <a:endParaRPr lang="en-US"/>
        </a:p>
      </dgm:t>
    </dgm:pt>
    <dgm:pt modelId="{52808670-15D4-436F-95E5-7E32BB939C4B}" type="pres">
      <dgm:prSet presAssocID="{C48A09B2-D192-44E2-BC97-23795D1EA2B7}" presName="linear" presStyleCnt="0">
        <dgm:presLayoutVars>
          <dgm:animLvl val="lvl"/>
          <dgm:resizeHandles val="exact"/>
        </dgm:presLayoutVars>
      </dgm:prSet>
      <dgm:spPr/>
    </dgm:pt>
    <dgm:pt modelId="{334B192C-0E1C-4C30-8B38-14C9549EFFB1}" type="pres">
      <dgm:prSet presAssocID="{A2303FD8-E8A4-40B3-800C-546291FD1DA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42DB1FC-691B-4282-A449-3B7E088C08AA}" type="pres">
      <dgm:prSet presAssocID="{257AE822-A20B-45C1-B887-D7407939D355}" presName="spacer" presStyleCnt="0"/>
      <dgm:spPr/>
    </dgm:pt>
    <dgm:pt modelId="{F144117A-E315-4A9A-B112-81D64A19EBA3}" type="pres">
      <dgm:prSet presAssocID="{6CD819EA-2C6F-401B-9158-6B29A5AA2DF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936ED7-83DC-4A1A-BC68-B43FAB242911}" type="pres">
      <dgm:prSet presAssocID="{8F1C1278-7C29-463C-8BB9-9B03062F0523}" presName="spacer" presStyleCnt="0"/>
      <dgm:spPr/>
    </dgm:pt>
    <dgm:pt modelId="{450E8595-7911-4554-8989-11D1F758B581}" type="pres">
      <dgm:prSet presAssocID="{A668355F-A2E8-4AA1-9F9A-8F0CE8661A6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465E629-BF56-43E2-A016-929C9566E855}" type="presOf" srcId="{C48A09B2-D192-44E2-BC97-23795D1EA2B7}" destId="{52808670-15D4-436F-95E5-7E32BB939C4B}" srcOrd="0" destOrd="0" presId="urn:microsoft.com/office/officeart/2005/8/layout/vList2"/>
    <dgm:cxn modelId="{ED382865-81BC-4ECB-BDED-E6CED03C6E0C}" type="presOf" srcId="{A668355F-A2E8-4AA1-9F9A-8F0CE8661A62}" destId="{450E8595-7911-4554-8989-11D1F758B581}" srcOrd="0" destOrd="0" presId="urn:microsoft.com/office/officeart/2005/8/layout/vList2"/>
    <dgm:cxn modelId="{62154B53-8C61-4323-BB45-8DC40B983711}" type="presOf" srcId="{A2303FD8-E8A4-40B3-800C-546291FD1DAB}" destId="{334B192C-0E1C-4C30-8B38-14C9549EFFB1}" srcOrd="0" destOrd="0" presId="urn:microsoft.com/office/officeart/2005/8/layout/vList2"/>
    <dgm:cxn modelId="{C794D182-5B05-4193-B283-958A65FE084B}" srcId="{C48A09B2-D192-44E2-BC97-23795D1EA2B7}" destId="{6CD819EA-2C6F-401B-9158-6B29A5AA2DFA}" srcOrd="1" destOrd="0" parTransId="{6264C41F-9C3E-4C1C-B1AE-DE59A883DD5C}" sibTransId="{8F1C1278-7C29-463C-8BB9-9B03062F0523}"/>
    <dgm:cxn modelId="{06508BCE-5BD7-415B-8A4B-477DE6AE0D44}" type="presOf" srcId="{6CD819EA-2C6F-401B-9158-6B29A5AA2DFA}" destId="{F144117A-E315-4A9A-B112-81D64A19EBA3}" srcOrd="0" destOrd="0" presId="urn:microsoft.com/office/officeart/2005/8/layout/vList2"/>
    <dgm:cxn modelId="{328106D3-965C-40B8-937B-817272289936}" srcId="{C48A09B2-D192-44E2-BC97-23795D1EA2B7}" destId="{A668355F-A2E8-4AA1-9F9A-8F0CE8661A62}" srcOrd="2" destOrd="0" parTransId="{C0DF90C3-E938-4DFE-ABCB-3B8BBE883B86}" sibTransId="{8579B041-64D3-4DF1-8D1A-7BE9B83EC60A}"/>
    <dgm:cxn modelId="{1E71EEDD-16C2-445B-9CD7-F6C288DB6566}" srcId="{C48A09B2-D192-44E2-BC97-23795D1EA2B7}" destId="{A2303FD8-E8A4-40B3-800C-546291FD1DAB}" srcOrd="0" destOrd="0" parTransId="{EB04E7F9-855C-41C4-9D56-5212B6B3A829}" sibTransId="{257AE822-A20B-45C1-B887-D7407939D355}"/>
    <dgm:cxn modelId="{F827F641-0CB5-44B0-AC48-6852A0878527}" type="presParOf" srcId="{52808670-15D4-436F-95E5-7E32BB939C4B}" destId="{334B192C-0E1C-4C30-8B38-14C9549EFFB1}" srcOrd="0" destOrd="0" presId="urn:microsoft.com/office/officeart/2005/8/layout/vList2"/>
    <dgm:cxn modelId="{DB57757E-EB4F-44E1-96AD-FA2BAA7B912D}" type="presParOf" srcId="{52808670-15D4-436F-95E5-7E32BB939C4B}" destId="{042DB1FC-691B-4282-A449-3B7E088C08AA}" srcOrd="1" destOrd="0" presId="urn:microsoft.com/office/officeart/2005/8/layout/vList2"/>
    <dgm:cxn modelId="{15F62DD9-EFE1-43C3-BF39-60ADFE5EB8D9}" type="presParOf" srcId="{52808670-15D4-436F-95E5-7E32BB939C4B}" destId="{F144117A-E315-4A9A-B112-81D64A19EBA3}" srcOrd="2" destOrd="0" presId="urn:microsoft.com/office/officeart/2005/8/layout/vList2"/>
    <dgm:cxn modelId="{F54024B1-CA12-4357-8081-870EABFAD83F}" type="presParOf" srcId="{52808670-15D4-436F-95E5-7E32BB939C4B}" destId="{59936ED7-83DC-4A1A-BC68-B43FAB242911}" srcOrd="3" destOrd="0" presId="urn:microsoft.com/office/officeart/2005/8/layout/vList2"/>
    <dgm:cxn modelId="{878C1EC3-65F0-42C4-92DE-B82D52B94CF5}" type="presParOf" srcId="{52808670-15D4-436F-95E5-7E32BB939C4B}" destId="{450E8595-7911-4554-8989-11D1F758B58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C52844-A971-4AC4-8C7D-703741F9BCE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BB148D-3BF7-46DA-A39A-12A565D15E6E}">
      <dgm:prSet/>
      <dgm:spPr/>
      <dgm:t>
        <a:bodyPr/>
        <a:lstStyle/>
        <a:p>
          <a:r>
            <a:rPr lang="en-US"/>
            <a:t>Python allows returning multiple values using a simple syntax. It allows return values unpacked into separate result variables.</a:t>
          </a:r>
        </a:p>
      </dgm:t>
    </dgm:pt>
    <dgm:pt modelId="{BC70C126-2FC8-47FD-B7E2-ED32FF11F92F}" type="parTrans" cxnId="{5ACD0DEB-4BB5-4442-A640-236304B5BD91}">
      <dgm:prSet/>
      <dgm:spPr/>
      <dgm:t>
        <a:bodyPr/>
        <a:lstStyle/>
        <a:p>
          <a:endParaRPr lang="en-US"/>
        </a:p>
      </dgm:t>
    </dgm:pt>
    <dgm:pt modelId="{4EB8745B-5F7A-4A3B-B52D-4C4A0517085A}" type="sibTrans" cxnId="{5ACD0DEB-4BB5-4442-A640-236304B5BD91}">
      <dgm:prSet/>
      <dgm:spPr/>
      <dgm:t>
        <a:bodyPr/>
        <a:lstStyle/>
        <a:p>
          <a:endParaRPr lang="en-US"/>
        </a:p>
      </dgm:t>
    </dgm:pt>
    <dgm:pt modelId="{92A768DD-F937-437C-A312-40975C07C27C}">
      <dgm:prSet/>
      <dgm:spPr/>
      <dgm:t>
        <a:bodyPr/>
        <a:lstStyle/>
        <a:p>
          <a:pPr>
            <a:buFontTx/>
            <a:buNone/>
          </a:pPr>
          <a:r>
            <a:rPr lang="en-US" dirty="0"/>
            <a:t>def f():</a:t>
          </a:r>
        </a:p>
      </dgm:t>
    </dgm:pt>
    <dgm:pt modelId="{647D74BC-398D-4A3E-82C2-53D4EC2290F6}" type="parTrans" cxnId="{30357E05-8266-4612-95EC-405CE2A9F826}">
      <dgm:prSet/>
      <dgm:spPr/>
      <dgm:t>
        <a:bodyPr/>
        <a:lstStyle/>
        <a:p>
          <a:endParaRPr lang="en-US"/>
        </a:p>
      </dgm:t>
    </dgm:pt>
    <dgm:pt modelId="{646F4DEA-750E-4EDD-9D2C-7F4F124D1C36}" type="sibTrans" cxnId="{30357E05-8266-4612-95EC-405CE2A9F826}">
      <dgm:prSet/>
      <dgm:spPr/>
      <dgm:t>
        <a:bodyPr/>
        <a:lstStyle/>
        <a:p>
          <a:endParaRPr lang="en-US"/>
        </a:p>
      </dgm:t>
    </dgm:pt>
    <dgm:pt modelId="{05654555-0474-4F08-88E0-E3BBCB6379EA}">
      <dgm:prSet/>
      <dgm:spPr/>
      <dgm:t>
        <a:bodyPr/>
        <a:lstStyle/>
        <a:p>
          <a:pPr>
            <a:buFontTx/>
            <a:buNone/>
          </a:pPr>
          <a:r>
            <a:rPr lang="en-US" dirty="0"/>
            <a:t>    a = 5</a:t>
          </a:r>
        </a:p>
      </dgm:t>
    </dgm:pt>
    <dgm:pt modelId="{56D2762E-15C9-4D81-AEC8-B7DD415645E6}" type="parTrans" cxnId="{3880F57C-72C5-433A-A46C-E230E777076B}">
      <dgm:prSet/>
      <dgm:spPr/>
      <dgm:t>
        <a:bodyPr/>
        <a:lstStyle/>
        <a:p>
          <a:endParaRPr lang="en-US"/>
        </a:p>
      </dgm:t>
    </dgm:pt>
    <dgm:pt modelId="{E1E509DF-872E-4920-B2B2-7D3119C6DC52}" type="sibTrans" cxnId="{3880F57C-72C5-433A-A46C-E230E777076B}">
      <dgm:prSet/>
      <dgm:spPr/>
      <dgm:t>
        <a:bodyPr/>
        <a:lstStyle/>
        <a:p>
          <a:endParaRPr lang="en-US"/>
        </a:p>
      </dgm:t>
    </dgm:pt>
    <dgm:pt modelId="{FBCC5276-DE2E-4C6C-AFCD-1800EDE7E0F3}">
      <dgm:prSet/>
      <dgm:spPr/>
      <dgm:t>
        <a:bodyPr/>
        <a:lstStyle/>
        <a:p>
          <a:pPr>
            <a:buFontTx/>
            <a:buNone/>
          </a:pPr>
          <a:r>
            <a:rPr lang="en-US" dirty="0"/>
            <a:t>    b = 7</a:t>
          </a:r>
        </a:p>
      </dgm:t>
    </dgm:pt>
    <dgm:pt modelId="{D4AAC687-0DC7-4301-A324-6E3F0E3285B5}" type="parTrans" cxnId="{645604D4-F3A8-4A9A-8792-B17E72A331B0}">
      <dgm:prSet/>
      <dgm:spPr/>
      <dgm:t>
        <a:bodyPr/>
        <a:lstStyle/>
        <a:p>
          <a:endParaRPr lang="en-US"/>
        </a:p>
      </dgm:t>
    </dgm:pt>
    <dgm:pt modelId="{76767B1D-3714-4DBA-9B4B-5CB559867A39}" type="sibTrans" cxnId="{645604D4-F3A8-4A9A-8792-B17E72A331B0}">
      <dgm:prSet/>
      <dgm:spPr/>
      <dgm:t>
        <a:bodyPr/>
        <a:lstStyle/>
        <a:p>
          <a:endParaRPr lang="en-US"/>
        </a:p>
      </dgm:t>
    </dgm:pt>
    <dgm:pt modelId="{4ACF2C92-7A0E-43DD-8C2D-4018CE18876B}">
      <dgm:prSet/>
      <dgm:spPr/>
      <dgm:t>
        <a:bodyPr/>
        <a:lstStyle/>
        <a:p>
          <a:pPr>
            <a:buFontTx/>
            <a:buNone/>
          </a:pPr>
          <a:r>
            <a:rPr lang="en-US" dirty="0"/>
            <a:t>    c = 9</a:t>
          </a:r>
        </a:p>
      </dgm:t>
    </dgm:pt>
    <dgm:pt modelId="{B9B1424B-AF82-4576-9858-3149C8298ABE}" type="parTrans" cxnId="{DAAC9EB1-7441-41CB-BC55-D10B808465F1}">
      <dgm:prSet/>
      <dgm:spPr/>
      <dgm:t>
        <a:bodyPr/>
        <a:lstStyle/>
        <a:p>
          <a:endParaRPr lang="en-US"/>
        </a:p>
      </dgm:t>
    </dgm:pt>
    <dgm:pt modelId="{5B7166BB-E7B2-4A77-856A-54113D2A6A78}" type="sibTrans" cxnId="{DAAC9EB1-7441-41CB-BC55-D10B808465F1}">
      <dgm:prSet/>
      <dgm:spPr/>
      <dgm:t>
        <a:bodyPr/>
        <a:lstStyle/>
        <a:p>
          <a:endParaRPr lang="en-US"/>
        </a:p>
      </dgm:t>
    </dgm:pt>
    <dgm:pt modelId="{71C52905-9D0F-407F-AB79-65943566001F}">
      <dgm:prSet/>
      <dgm:spPr/>
      <dgm:t>
        <a:bodyPr/>
        <a:lstStyle/>
        <a:p>
          <a:pPr>
            <a:buFontTx/>
            <a:buNone/>
          </a:pPr>
          <a:r>
            <a:rPr lang="en-US" dirty="0"/>
            <a:t>    return a, b, c</a:t>
          </a:r>
        </a:p>
      </dgm:t>
    </dgm:pt>
    <dgm:pt modelId="{19213FD9-DC57-4054-B18A-F73BDBB290BC}" type="parTrans" cxnId="{557CBAF5-F191-45D8-B641-784C384FFFF5}">
      <dgm:prSet/>
      <dgm:spPr/>
      <dgm:t>
        <a:bodyPr/>
        <a:lstStyle/>
        <a:p>
          <a:endParaRPr lang="en-US"/>
        </a:p>
      </dgm:t>
    </dgm:pt>
    <dgm:pt modelId="{A0F2FFB4-9C07-439D-8D7B-DD5C6BA9658D}" type="sibTrans" cxnId="{557CBAF5-F191-45D8-B641-784C384FFFF5}">
      <dgm:prSet/>
      <dgm:spPr/>
      <dgm:t>
        <a:bodyPr/>
        <a:lstStyle/>
        <a:p>
          <a:endParaRPr lang="en-US"/>
        </a:p>
      </dgm:t>
    </dgm:pt>
    <dgm:pt modelId="{1850C995-08DA-4470-89AD-297BBB78743C}">
      <dgm:prSet/>
      <dgm:spPr/>
      <dgm:t>
        <a:bodyPr/>
        <a:lstStyle/>
        <a:p>
          <a:r>
            <a:rPr lang="en-US"/>
            <a:t>Returns a tuple that is unpacked (each element is assigned to a variable)    </a:t>
          </a:r>
        </a:p>
      </dgm:t>
    </dgm:pt>
    <dgm:pt modelId="{B5E19781-C8FD-4AA2-868C-C56381A0BC94}" type="parTrans" cxnId="{57E05C0F-26BD-4C43-B58B-CB6D4B0FD8E8}">
      <dgm:prSet/>
      <dgm:spPr/>
      <dgm:t>
        <a:bodyPr/>
        <a:lstStyle/>
        <a:p>
          <a:endParaRPr lang="en-US"/>
        </a:p>
      </dgm:t>
    </dgm:pt>
    <dgm:pt modelId="{DB4678EC-ADE1-474A-A088-783D04A8817E}" type="sibTrans" cxnId="{57E05C0F-26BD-4C43-B58B-CB6D4B0FD8E8}">
      <dgm:prSet/>
      <dgm:spPr/>
      <dgm:t>
        <a:bodyPr/>
        <a:lstStyle/>
        <a:p>
          <a:endParaRPr lang="en-US"/>
        </a:p>
      </dgm:t>
    </dgm:pt>
    <dgm:pt modelId="{ACA09E68-F54E-4BA3-8FF5-3AE571B5BAD3}">
      <dgm:prSet/>
      <dgm:spPr/>
      <dgm:t>
        <a:bodyPr/>
        <a:lstStyle/>
        <a:p>
          <a:pPr>
            <a:buFontTx/>
            <a:buNone/>
          </a:pPr>
          <a:r>
            <a:rPr lang="en-US" dirty="0"/>
            <a:t>a, b, c = f()</a:t>
          </a:r>
        </a:p>
      </dgm:t>
    </dgm:pt>
    <dgm:pt modelId="{A303A004-F68B-4B64-8DBD-D5486EA16CDC}" type="parTrans" cxnId="{FAD1DC0F-7439-41C9-BC81-CEA7EEF186AA}">
      <dgm:prSet/>
      <dgm:spPr/>
      <dgm:t>
        <a:bodyPr/>
        <a:lstStyle/>
        <a:p>
          <a:endParaRPr lang="en-US"/>
        </a:p>
      </dgm:t>
    </dgm:pt>
    <dgm:pt modelId="{5C8F3109-E9DF-4D48-946D-2EBE257FB53C}" type="sibTrans" cxnId="{FAD1DC0F-7439-41C9-BC81-CEA7EEF186AA}">
      <dgm:prSet/>
      <dgm:spPr/>
      <dgm:t>
        <a:bodyPr/>
        <a:lstStyle/>
        <a:p>
          <a:endParaRPr lang="en-US"/>
        </a:p>
      </dgm:t>
    </dgm:pt>
    <dgm:pt modelId="{083ACFD0-10F9-4ADD-B2E0-551DFA65DFF1}" type="pres">
      <dgm:prSet presAssocID="{CCC52844-A971-4AC4-8C7D-703741F9BCE8}" presName="linear" presStyleCnt="0">
        <dgm:presLayoutVars>
          <dgm:animLvl val="lvl"/>
          <dgm:resizeHandles val="exact"/>
        </dgm:presLayoutVars>
      </dgm:prSet>
      <dgm:spPr/>
    </dgm:pt>
    <dgm:pt modelId="{736A0A9D-4407-46F4-8A57-FFFB104F941C}" type="pres">
      <dgm:prSet presAssocID="{EBBB148D-3BF7-46DA-A39A-12A565D15E6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95CCCB0-0944-4085-88C6-790D1EFBD324}" type="pres">
      <dgm:prSet presAssocID="{EBBB148D-3BF7-46DA-A39A-12A565D15E6E}" presName="childText" presStyleLbl="revTx" presStyleIdx="0" presStyleCnt="2">
        <dgm:presLayoutVars>
          <dgm:bulletEnabled val="1"/>
        </dgm:presLayoutVars>
      </dgm:prSet>
      <dgm:spPr/>
    </dgm:pt>
    <dgm:pt modelId="{3B8B279F-C193-443E-A008-355C6FE4A1EE}" type="pres">
      <dgm:prSet presAssocID="{1850C995-08DA-4470-89AD-297BBB78743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3E47170-42E8-416D-8DDC-B2C75D57F807}" type="pres">
      <dgm:prSet presAssocID="{1850C995-08DA-4470-89AD-297BBB78743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0357E05-8266-4612-95EC-405CE2A9F826}" srcId="{EBBB148D-3BF7-46DA-A39A-12A565D15E6E}" destId="{92A768DD-F937-437C-A312-40975C07C27C}" srcOrd="0" destOrd="0" parTransId="{647D74BC-398D-4A3E-82C2-53D4EC2290F6}" sibTransId="{646F4DEA-750E-4EDD-9D2C-7F4F124D1C36}"/>
    <dgm:cxn modelId="{57E05C0F-26BD-4C43-B58B-CB6D4B0FD8E8}" srcId="{CCC52844-A971-4AC4-8C7D-703741F9BCE8}" destId="{1850C995-08DA-4470-89AD-297BBB78743C}" srcOrd="1" destOrd="0" parTransId="{B5E19781-C8FD-4AA2-868C-C56381A0BC94}" sibTransId="{DB4678EC-ADE1-474A-A088-783D04A8817E}"/>
    <dgm:cxn modelId="{FAD1DC0F-7439-41C9-BC81-CEA7EEF186AA}" srcId="{1850C995-08DA-4470-89AD-297BBB78743C}" destId="{ACA09E68-F54E-4BA3-8FF5-3AE571B5BAD3}" srcOrd="0" destOrd="0" parTransId="{A303A004-F68B-4B64-8DBD-D5486EA16CDC}" sibTransId="{5C8F3109-E9DF-4D48-946D-2EBE257FB53C}"/>
    <dgm:cxn modelId="{FAC97418-4AC7-45CC-A22B-8ADF579B077B}" type="presOf" srcId="{92A768DD-F937-437C-A312-40975C07C27C}" destId="{795CCCB0-0944-4085-88C6-790D1EFBD324}" srcOrd="0" destOrd="0" presId="urn:microsoft.com/office/officeart/2005/8/layout/vList2"/>
    <dgm:cxn modelId="{005E2A47-C525-47DB-A037-CFD74783A2F4}" type="presOf" srcId="{71C52905-9D0F-407F-AB79-65943566001F}" destId="{795CCCB0-0944-4085-88C6-790D1EFBD324}" srcOrd="0" destOrd="4" presId="urn:microsoft.com/office/officeart/2005/8/layout/vList2"/>
    <dgm:cxn modelId="{2632977B-4768-42B6-A884-A28577D69D24}" type="presOf" srcId="{CCC52844-A971-4AC4-8C7D-703741F9BCE8}" destId="{083ACFD0-10F9-4ADD-B2E0-551DFA65DFF1}" srcOrd="0" destOrd="0" presId="urn:microsoft.com/office/officeart/2005/8/layout/vList2"/>
    <dgm:cxn modelId="{3880F57C-72C5-433A-A46C-E230E777076B}" srcId="{EBBB148D-3BF7-46DA-A39A-12A565D15E6E}" destId="{05654555-0474-4F08-88E0-E3BBCB6379EA}" srcOrd="1" destOrd="0" parTransId="{56D2762E-15C9-4D81-AEC8-B7DD415645E6}" sibTransId="{E1E509DF-872E-4920-B2B2-7D3119C6DC52}"/>
    <dgm:cxn modelId="{98419285-9EF2-4647-8262-6AC227CDA53D}" type="presOf" srcId="{FBCC5276-DE2E-4C6C-AFCD-1800EDE7E0F3}" destId="{795CCCB0-0944-4085-88C6-790D1EFBD324}" srcOrd="0" destOrd="2" presId="urn:microsoft.com/office/officeart/2005/8/layout/vList2"/>
    <dgm:cxn modelId="{3249D2B0-7F97-42E7-9B11-7851DE799820}" type="presOf" srcId="{EBBB148D-3BF7-46DA-A39A-12A565D15E6E}" destId="{736A0A9D-4407-46F4-8A57-FFFB104F941C}" srcOrd="0" destOrd="0" presId="urn:microsoft.com/office/officeart/2005/8/layout/vList2"/>
    <dgm:cxn modelId="{DAAC9EB1-7441-41CB-BC55-D10B808465F1}" srcId="{EBBB148D-3BF7-46DA-A39A-12A565D15E6E}" destId="{4ACF2C92-7A0E-43DD-8C2D-4018CE18876B}" srcOrd="3" destOrd="0" parTransId="{B9B1424B-AF82-4576-9858-3149C8298ABE}" sibTransId="{5B7166BB-E7B2-4A77-856A-54113D2A6A78}"/>
    <dgm:cxn modelId="{645604D4-F3A8-4A9A-8792-B17E72A331B0}" srcId="{EBBB148D-3BF7-46DA-A39A-12A565D15E6E}" destId="{FBCC5276-DE2E-4C6C-AFCD-1800EDE7E0F3}" srcOrd="2" destOrd="0" parTransId="{D4AAC687-0DC7-4301-A324-6E3F0E3285B5}" sibTransId="{76767B1D-3714-4DBA-9B4B-5CB559867A39}"/>
    <dgm:cxn modelId="{A7FFB7D4-CC4C-4BE7-B35C-EC3E4C912DD0}" type="presOf" srcId="{ACA09E68-F54E-4BA3-8FF5-3AE571B5BAD3}" destId="{F3E47170-42E8-416D-8DDC-B2C75D57F807}" srcOrd="0" destOrd="0" presId="urn:microsoft.com/office/officeart/2005/8/layout/vList2"/>
    <dgm:cxn modelId="{795BBAE3-0F97-4863-A21F-47100BB9CC57}" type="presOf" srcId="{4ACF2C92-7A0E-43DD-8C2D-4018CE18876B}" destId="{795CCCB0-0944-4085-88C6-790D1EFBD324}" srcOrd="0" destOrd="3" presId="urn:microsoft.com/office/officeart/2005/8/layout/vList2"/>
    <dgm:cxn modelId="{5ACD0DEB-4BB5-4442-A640-236304B5BD91}" srcId="{CCC52844-A971-4AC4-8C7D-703741F9BCE8}" destId="{EBBB148D-3BF7-46DA-A39A-12A565D15E6E}" srcOrd="0" destOrd="0" parTransId="{BC70C126-2FC8-47FD-B7E2-ED32FF11F92F}" sibTransId="{4EB8745B-5F7A-4A3B-B52D-4C4A0517085A}"/>
    <dgm:cxn modelId="{07CF21EB-BA94-443C-BDD9-650A65E83E5A}" type="presOf" srcId="{05654555-0474-4F08-88E0-E3BBCB6379EA}" destId="{795CCCB0-0944-4085-88C6-790D1EFBD324}" srcOrd="0" destOrd="1" presId="urn:microsoft.com/office/officeart/2005/8/layout/vList2"/>
    <dgm:cxn modelId="{FECEC5F3-E8FF-44A9-BD22-07AF24F6EE23}" type="presOf" srcId="{1850C995-08DA-4470-89AD-297BBB78743C}" destId="{3B8B279F-C193-443E-A008-355C6FE4A1EE}" srcOrd="0" destOrd="0" presId="urn:microsoft.com/office/officeart/2005/8/layout/vList2"/>
    <dgm:cxn modelId="{557CBAF5-F191-45D8-B641-784C384FFFF5}" srcId="{EBBB148D-3BF7-46DA-A39A-12A565D15E6E}" destId="{71C52905-9D0F-407F-AB79-65943566001F}" srcOrd="4" destOrd="0" parTransId="{19213FD9-DC57-4054-B18A-F73BDBB290BC}" sibTransId="{A0F2FFB4-9C07-439D-8D7B-DD5C6BA9658D}"/>
    <dgm:cxn modelId="{07E618EC-957A-47EB-813E-C1E9B3B4B6E3}" type="presParOf" srcId="{083ACFD0-10F9-4ADD-B2E0-551DFA65DFF1}" destId="{736A0A9D-4407-46F4-8A57-FFFB104F941C}" srcOrd="0" destOrd="0" presId="urn:microsoft.com/office/officeart/2005/8/layout/vList2"/>
    <dgm:cxn modelId="{64FAB9C3-6935-4FBC-BA60-F03D2231BF87}" type="presParOf" srcId="{083ACFD0-10F9-4ADD-B2E0-551DFA65DFF1}" destId="{795CCCB0-0944-4085-88C6-790D1EFBD324}" srcOrd="1" destOrd="0" presId="urn:microsoft.com/office/officeart/2005/8/layout/vList2"/>
    <dgm:cxn modelId="{40F4527F-4FBE-45A5-81E6-319A3E4CFF62}" type="presParOf" srcId="{083ACFD0-10F9-4ADD-B2E0-551DFA65DFF1}" destId="{3B8B279F-C193-443E-A008-355C6FE4A1EE}" srcOrd="2" destOrd="0" presId="urn:microsoft.com/office/officeart/2005/8/layout/vList2"/>
    <dgm:cxn modelId="{8B49771E-2F0E-45E7-A91C-129FAE768B65}" type="presParOf" srcId="{083ACFD0-10F9-4ADD-B2E0-551DFA65DFF1}" destId="{F3E47170-42E8-416D-8DDC-B2C75D57F80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8F0B4-9046-4DE5-9E0F-ABFD6EA097DD}">
      <dsp:nvSpPr>
        <dsp:cNvPr id="0" name=""/>
        <dsp:cNvSpPr/>
      </dsp:nvSpPr>
      <dsp:spPr>
        <a:xfrm>
          <a:off x="1436529" y="300042"/>
          <a:ext cx="802089" cy="8020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99E5C-FC82-4D28-A089-332541DBA54D}">
      <dsp:nvSpPr>
        <dsp:cNvPr id="0" name=""/>
        <dsp:cNvSpPr/>
      </dsp:nvSpPr>
      <dsp:spPr>
        <a:xfrm>
          <a:off x="946361" y="1384640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 Structures and Sequences</a:t>
          </a:r>
        </a:p>
      </dsp:txBody>
      <dsp:txXfrm>
        <a:off x="946361" y="1384640"/>
        <a:ext cx="1782421" cy="712968"/>
      </dsp:txXfrm>
    </dsp:sp>
    <dsp:sp modelId="{B99565C1-B5F5-490F-9BEE-E0D201EBDBB8}">
      <dsp:nvSpPr>
        <dsp:cNvPr id="0" name=""/>
        <dsp:cNvSpPr/>
      </dsp:nvSpPr>
      <dsp:spPr>
        <a:xfrm>
          <a:off x="3887484" y="300042"/>
          <a:ext cx="802089" cy="8020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8793B-C26F-4D11-81B9-DBB9A4ED0B3A}">
      <dsp:nvSpPr>
        <dsp:cNvPr id="0" name=""/>
        <dsp:cNvSpPr/>
      </dsp:nvSpPr>
      <dsp:spPr>
        <a:xfrm>
          <a:off x="3371827" y="1384640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Built-in Function</a:t>
          </a:r>
        </a:p>
      </dsp:txBody>
      <dsp:txXfrm>
        <a:off x="3371827" y="1384640"/>
        <a:ext cx="1782421" cy="712968"/>
      </dsp:txXfrm>
    </dsp:sp>
    <dsp:sp modelId="{8433BDCF-688D-40A8-9AA6-8E6C43D8F253}">
      <dsp:nvSpPr>
        <dsp:cNvPr id="0" name=""/>
        <dsp:cNvSpPr/>
      </dsp:nvSpPr>
      <dsp:spPr>
        <a:xfrm>
          <a:off x="1435737" y="2466976"/>
          <a:ext cx="802089" cy="8020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C3141-0557-48B0-85CE-342B2182913C}">
      <dsp:nvSpPr>
        <dsp:cNvPr id="0" name=""/>
        <dsp:cNvSpPr/>
      </dsp:nvSpPr>
      <dsp:spPr>
        <a:xfrm>
          <a:off x="1053467" y="3460235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User-defined Functions</a:t>
          </a:r>
        </a:p>
      </dsp:txBody>
      <dsp:txXfrm>
        <a:off x="1053467" y="3460235"/>
        <a:ext cx="1782421" cy="712968"/>
      </dsp:txXfrm>
    </dsp:sp>
    <dsp:sp modelId="{67FBB2A8-5852-4F36-99C4-0E1878F8BABF}">
      <dsp:nvSpPr>
        <dsp:cNvPr id="0" name=""/>
        <dsp:cNvSpPr/>
      </dsp:nvSpPr>
      <dsp:spPr>
        <a:xfrm>
          <a:off x="3926112" y="2596750"/>
          <a:ext cx="802089" cy="8020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40E13C-DDDB-4954-AD6B-2E62AB67A5E1}">
      <dsp:nvSpPr>
        <dsp:cNvPr id="0" name=""/>
        <dsp:cNvSpPr/>
      </dsp:nvSpPr>
      <dsp:spPr>
        <a:xfrm>
          <a:off x="3651570" y="3681353"/>
          <a:ext cx="1348919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Files</a:t>
          </a:r>
        </a:p>
      </dsp:txBody>
      <dsp:txXfrm>
        <a:off x="3651570" y="3681353"/>
        <a:ext cx="1348919" cy="7129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4B192C-0E1C-4C30-8B38-14C9549EFFB1}">
      <dsp:nvSpPr>
        <dsp:cNvPr id="0" name=""/>
        <dsp:cNvSpPr/>
      </dsp:nvSpPr>
      <dsp:spPr>
        <a:xfrm>
          <a:off x="0" y="306514"/>
          <a:ext cx="4954590" cy="94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Each function can have multiple return statements. </a:t>
          </a:r>
        </a:p>
      </dsp:txBody>
      <dsp:txXfrm>
        <a:off x="46034" y="352548"/>
        <a:ext cx="4862522" cy="850952"/>
      </dsp:txXfrm>
    </dsp:sp>
    <dsp:sp modelId="{F144117A-E315-4A9A-B112-81D64A19EBA3}">
      <dsp:nvSpPr>
        <dsp:cNvPr id="0" name=""/>
        <dsp:cNvSpPr/>
      </dsp:nvSpPr>
      <dsp:spPr>
        <a:xfrm>
          <a:off x="0" y="1324414"/>
          <a:ext cx="4954590" cy="94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None is returned if there is no return statement in the function.</a:t>
          </a:r>
        </a:p>
      </dsp:txBody>
      <dsp:txXfrm>
        <a:off x="46034" y="1370448"/>
        <a:ext cx="4862522" cy="850952"/>
      </dsp:txXfrm>
    </dsp:sp>
    <dsp:sp modelId="{450E8595-7911-4554-8989-11D1F758B581}">
      <dsp:nvSpPr>
        <dsp:cNvPr id="0" name=""/>
        <dsp:cNvSpPr/>
      </dsp:nvSpPr>
      <dsp:spPr>
        <a:xfrm>
          <a:off x="0" y="2342314"/>
          <a:ext cx="4954590" cy="94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Each function has a </a:t>
          </a:r>
          <a:r>
            <a:rPr lang="en-US" sz="2600" i="1" kern="1200"/>
            <a:t>positional</a:t>
          </a:r>
          <a:r>
            <a:rPr lang="en-US" sz="2600" kern="1200"/>
            <a:t> arguments and </a:t>
          </a:r>
          <a:r>
            <a:rPr lang="en-US" sz="2600" i="1" kern="1200"/>
            <a:t>keyword </a:t>
          </a:r>
          <a:r>
            <a:rPr lang="en-US" sz="2600" kern="1200"/>
            <a:t>arguments.</a:t>
          </a:r>
        </a:p>
      </dsp:txBody>
      <dsp:txXfrm>
        <a:off x="46034" y="2388348"/>
        <a:ext cx="4862522" cy="8509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6A0A9D-4407-46F4-8A57-FFFB104F941C}">
      <dsp:nvSpPr>
        <dsp:cNvPr id="0" name=""/>
        <dsp:cNvSpPr/>
      </dsp:nvSpPr>
      <dsp:spPr>
        <a:xfrm>
          <a:off x="0" y="73381"/>
          <a:ext cx="10032272" cy="94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Python allows returning multiple values using a simple syntax. It allows return values unpacked into separate result variables.</a:t>
          </a:r>
        </a:p>
      </dsp:txBody>
      <dsp:txXfrm>
        <a:off x="46034" y="119415"/>
        <a:ext cx="9940204" cy="850952"/>
      </dsp:txXfrm>
    </dsp:sp>
    <dsp:sp modelId="{795CCCB0-0944-4085-88C6-790D1EFBD324}">
      <dsp:nvSpPr>
        <dsp:cNvPr id="0" name=""/>
        <dsp:cNvSpPr/>
      </dsp:nvSpPr>
      <dsp:spPr>
        <a:xfrm>
          <a:off x="0" y="1016401"/>
          <a:ext cx="10032272" cy="1533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52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Tx/>
            <a:buNone/>
          </a:pPr>
          <a:r>
            <a:rPr lang="en-US" sz="2000" kern="1200" dirty="0"/>
            <a:t>def f():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Tx/>
            <a:buNone/>
          </a:pPr>
          <a:r>
            <a:rPr lang="en-US" sz="2000" kern="1200" dirty="0"/>
            <a:t>    a = 5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Tx/>
            <a:buNone/>
          </a:pPr>
          <a:r>
            <a:rPr lang="en-US" sz="2000" kern="1200" dirty="0"/>
            <a:t>    b = 7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Tx/>
            <a:buNone/>
          </a:pPr>
          <a:r>
            <a:rPr lang="en-US" sz="2000" kern="1200" dirty="0"/>
            <a:t>    c = 9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Tx/>
            <a:buNone/>
          </a:pPr>
          <a:r>
            <a:rPr lang="en-US" sz="2000" kern="1200" dirty="0"/>
            <a:t>    return a, b, c</a:t>
          </a:r>
        </a:p>
      </dsp:txBody>
      <dsp:txXfrm>
        <a:off x="0" y="1016401"/>
        <a:ext cx="10032272" cy="1533870"/>
      </dsp:txXfrm>
    </dsp:sp>
    <dsp:sp modelId="{3B8B279F-C193-443E-A008-355C6FE4A1EE}">
      <dsp:nvSpPr>
        <dsp:cNvPr id="0" name=""/>
        <dsp:cNvSpPr/>
      </dsp:nvSpPr>
      <dsp:spPr>
        <a:xfrm>
          <a:off x="0" y="2550272"/>
          <a:ext cx="10032272" cy="94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Returns a tuple that is unpacked (each element is assigned to a variable)    </a:t>
          </a:r>
        </a:p>
      </dsp:txBody>
      <dsp:txXfrm>
        <a:off x="46034" y="2596306"/>
        <a:ext cx="9940204" cy="850952"/>
      </dsp:txXfrm>
    </dsp:sp>
    <dsp:sp modelId="{F3E47170-42E8-416D-8DDC-B2C75D57F807}">
      <dsp:nvSpPr>
        <dsp:cNvPr id="0" name=""/>
        <dsp:cNvSpPr/>
      </dsp:nvSpPr>
      <dsp:spPr>
        <a:xfrm>
          <a:off x="0" y="3493291"/>
          <a:ext cx="10032272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52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Tx/>
            <a:buNone/>
          </a:pPr>
          <a:r>
            <a:rPr lang="en-US" sz="2000" kern="1200" dirty="0"/>
            <a:t>a, b, c = f()</a:t>
          </a:r>
        </a:p>
      </dsp:txBody>
      <dsp:txXfrm>
        <a:off x="0" y="3493291"/>
        <a:ext cx="10032272" cy="430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1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4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7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1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7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3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8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1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2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39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2787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0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57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53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3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3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85C1B-F502-49E7-9B1D-A7B2F3900DC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24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20F8C-B260-B061-FAEB-456B3F292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7794" y="1122363"/>
            <a:ext cx="8898299" cy="2387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Module 2: </a:t>
            </a:r>
            <a:b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Python Data Structures, Functions, and Files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59F20-37AD-8B00-89EB-0FC957CA1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514" y="3995056"/>
            <a:ext cx="8621485" cy="126274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DS 522 Data Acquisition and Analytics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069D0-BFED-6A53-E54A-0E65EEE9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421" y="1202"/>
            <a:ext cx="1206376" cy="112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04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C0D522-1107-85EC-4ED2-225629BD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547153" cy="4708528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AGENDA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B3529599-F5B4-68D7-C3D3-833636480F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6613348"/>
              </p:ext>
            </p:extLst>
          </p:nvPr>
        </p:nvGraphicFramePr>
        <p:xfrm>
          <a:off x="4843209" y="1082673"/>
          <a:ext cx="6205792" cy="4708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133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CBBE772-449F-732D-5D97-8C1426492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2960" y="-18472"/>
            <a:ext cx="836310" cy="83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6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4227576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Data structures and sequences</a:t>
            </a:r>
            <a:br>
              <a:rPr lang="en-US" sz="4800" dirty="0"/>
            </a:br>
            <a:r>
              <a:rPr lang="en-US" sz="4800" dirty="0"/>
              <a:t>AND USEFUL Built-in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052D2-6CF3-75C7-9876-A8F3EBAC7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952" y="3849624"/>
            <a:ext cx="9904459" cy="987552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Lists, Tuples, Dictionary, 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10E971-7046-9ADF-59AB-21C14ABAE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645" y="-8034"/>
            <a:ext cx="846748" cy="80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8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975" y="302714"/>
            <a:ext cx="9968627" cy="1175358"/>
          </a:xfrm>
        </p:spPr>
        <p:txBody>
          <a:bodyPr/>
          <a:lstStyle/>
          <a:p>
            <a:pPr algn="ctr"/>
            <a:r>
              <a:rPr lang="en-US" b="1" dirty="0"/>
              <a:t>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6E532-AE31-6638-6706-F28020FFB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7919" y="1897792"/>
            <a:ext cx="3196899" cy="500449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27919" y="2619632"/>
            <a:ext cx="2811036" cy="336103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Sequence of Python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Variable in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Mutable</a:t>
            </a:r>
            <a:r>
              <a:rPr lang="en-US" sz="2000" dirty="0"/>
              <a:t> – can be modified.</a:t>
            </a:r>
          </a:p>
          <a:p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B03E9-2A8B-A6A6-E3A9-FC4D6FEA1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14766" y="1826583"/>
            <a:ext cx="3184385" cy="500449"/>
          </a:xfrm>
        </p:spPr>
        <p:txBody>
          <a:bodyPr/>
          <a:lstStyle/>
          <a:p>
            <a:r>
              <a:rPr lang="en-US" dirty="0"/>
              <a:t>Define a list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976326-1AFF-02CA-58FF-22A4B1856CF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994664" y="2442502"/>
            <a:ext cx="3341966" cy="3852792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Assign a sequence of values separated by comma.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 a square bracket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[ ]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a_list</a:t>
            </a:r>
            <a:r>
              <a:rPr lang="en-US" sz="2000" dirty="0"/>
              <a:t> =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[</a:t>
            </a:r>
            <a:r>
              <a:rPr lang="en-US" sz="2000" dirty="0"/>
              <a:t>2, 4, 6, 8, None</a:t>
            </a:r>
            <a:r>
              <a:rPr lang="en-US" sz="2000" b="1" dirty="0">
                <a:solidFill>
                  <a:srgbClr val="FF0000"/>
                </a:solidFill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 a </a:t>
            </a:r>
            <a:r>
              <a:rPr lang="en-US" sz="2000" dirty="0">
                <a:solidFill>
                  <a:schemeClr val="bg2"/>
                </a:solidFill>
              </a:rPr>
              <a:t>list built-in function</a:t>
            </a:r>
          </a:p>
          <a:p>
            <a:r>
              <a:rPr lang="en-US" sz="2000" dirty="0"/>
              <a:t>    tup = (‘apple’, ’mango’, ‘melon’)</a:t>
            </a:r>
          </a:p>
          <a:p>
            <a:r>
              <a:rPr lang="en-US" sz="2000" dirty="0"/>
              <a:t>    </a:t>
            </a:r>
            <a:r>
              <a:rPr lang="en-US" sz="2000" err="1"/>
              <a:t>b_list</a:t>
            </a:r>
            <a:r>
              <a:rPr lang="en-US" sz="2000" dirty="0"/>
              <a:t> =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2"/>
                </a:solidFill>
              </a:rPr>
              <a:t>list</a:t>
            </a:r>
            <a:r>
              <a:rPr lang="en-US" sz="2000" dirty="0"/>
              <a:t>(tup)</a:t>
            </a:r>
          </a:p>
          <a:p>
            <a:r>
              <a:rPr lang="en-US" sz="2000" dirty="0"/>
              <a:t>Output: </a:t>
            </a:r>
            <a:r>
              <a:rPr lang="en-US" sz="2000" b="1" dirty="0">
                <a:solidFill>
                  <a:schemeClr val="bg2"/>
                </a:solidFill>
              </a:rPr>
              <a:t>[</a:t>
            </a:r>
            <a:r>
              <a:rPr lang="en-US" sz="2000" dirty="0"/>
              <a:t>‘apple’, ’mango’, ‘melon’</a:t>
            </a:r>
            <a:r>
              <a:rPr lang="en-US" sz="2000" b="1" dirty="0">
                <a:solidFill>
                  <a:schemeClr val="bg2"/>
                </a:solidFill>
              </a:rPr>
              <a:t>]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b_list</a:t>
            </a:r>
            <a:r>
              <a:rPr lang="en-US" sz="2000" dirty="0"/>
              <a:t>[0]  </a:t>
            </a:r>
            <a:r>
              <a:rPr lang="en-US" sz="2000" dirty="0">
                <a:sym typeface="Wingdings" panose="05000000000000000000" pitchFamily="2" charset="2"/>
              </a:rPr>
              <a:t>   ‘apple’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b_list</a:t>
            </a:r>
            <a:r>
              <a:rPr lang="en-US" sz="2000" dirty="0"/>
              <a:t>[1]  </a:t>
            </a:r>
            <a:r>
              <a:rPr lang="en-US" sz="2000" dirty="0">
                <a:sym typeface="Wingdings" panose="05000000000000000000" pitchFamily="2" charset="2"/>
              </a:rPr>
              <a:t>  </a:t>
            </a:r>
            <a:r>
              <a:rPr lang="en-US" sz="2000" dirty="0"/>
              <a:t>’mango’</a:t>
            </a:r>
          </a:p>
          <a:p>
            <a:endParaRPr lang="en-US" sz="2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E10CDC-6436-BBE8-B18E-227332CA84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52442" y="1838306"/>
            <a:ext cx="3194968" cy="500449"/>
          </a:xfrm>
        </p:spPr>
        <p:txBody>
          <a:bodyPr/>
          <a:lstStyle/>
          <a:p>
            <a:r>
              <a:rPr lang="en-US" sz="2400" dirty="0"/>
              <a:t>list function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6B4726-B887-AE65-79C3-09810318F35C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52442" y="2440615"/>
            <a:ext cx="3319650" cy="3631940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</a:rPr>
              <a:t>list()</a:t>
            </a:r>
            <a:r>
              <a:rPr lang="en-US" sz="2400" dirty="0"/>
              <a:t> - Used in data processing to materialize an iterator expression.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Example:</a:t>
            </a:r>
          </a:p>
          <a:p>
            <a:pPr lvl="1"/>
            <a:r>
              <a:rPr lang="en-US" sz="2000" dirty="0"/>
              <a:t>gen = range(5)</a:t>
            </a:r>
          </a:p>
          <a:p>
            <a:pPr lvl="1"/>
            <a:r>
              <a:rPr lang="en-US" sz="2000" b="1" dirty="0">
                <a:solidFill>
                  <a:schemeClr val="tx2">
                    <a:lumMod val="49000"/>
                  </a:schemeClr>
                </a:solidFill>
              </a:rPr>
              <a:t>list</a:t>
            </a:r>
            <a:r>
              <a:rPr lang="en-US" sz="2000" dirty="0"/>
              <a:t>(gen)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Output: </a:t>
            </a:r>
          </a:p>
          <a:p>
            <a:pPr lvl="1"/>
            <a:r>
              <a:rPr lang="en-US" sz="2000" dirty="0"/>
              <a:t>[0, 1, 2, 3, 4, 5]</a:t>
            </a:r>
          </a:p>
          <a:p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59A9CB-95C5-0AF5-F168-4D594C4C3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644" y="2404"/>
            <a:ext cx="846748" cy="79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31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973" y="420798"/>
            <a:ext cx="9906000" cy="869704"/>
          </a:xfrm>
        </p:spPr>
        <p:txBody>
          <a:bodyPr/>
          <a:lstStyle/>
          <a:p>
            <a:pPr algn="ctr"/>
            <a:r>
              <a:rPr lang="en-US" sz="4000" b="1" dirty="0"/>
              <a:t>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3C32-3637-4A6D-BDDF-6FD34EE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1298233"/>
            <a:ext cx="5030791" cy="658367"/>
          </a:xfrm>
        </p:spPr>
        <p:txBody>
          <a:bodyPr>
            <a:noAutofit/>
          </a:bodyPr>
          <a:lstStyle/>
          <a:p>
            <a:r>
              <a:rPr lang="en-US" sz="3200" dirty="0"/>
              <a:t>Adding Elements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152611"/>
            <a:ext cx="5268239" cy="33220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>
                <a:solidFill>
                  <a:schemeClr val="bg2"/>
                </a:solidFill>
                <a:latin typeface="TW Cen MT"/>
              </a:rPr>
              <a:t>append()</a:t>
            </a:r>
            <a:r>
              <a:rPr lang="en-US" sz="1800" b="1" i="1" dirty="0">
                <a:latin typeface="TW Cen MT"/>
              </a:rPr>
              <a:t>:</a:t>
            </a:r>
            <a:r>
              <a:rPr lang="en-US" sz="1800" dirty="0">
                <a:latin typeface="TW Cen MT"/>
              </a:rPr>
              <a:t> method that a</a:t>
            </a:r>
            <a:r>
              <a:rPr lang="en-US" sz="1800" dirty="0"/>
              <a:t>ppends elements to the end of the list.</a:t>
            </a:r>
          </a:p>
          <a:p>
            <a:pPr lvl="1"/>
            <a:r>
              <a:rPr lang="en-US" sz="1800" err="1"/>
              <a:t>b_list.</a:t>
            </a:r>
            <a:r>
              <a:rPr lang="en-US" sz="1800" err="1">
                <a:solidFill>
                  <a:schemeClr val="bg2"/>
                </a:solidFill>
              </a:rPr>
              <a:t>append</a:t>
            </a:r>
            <a:r>
              <a:rPr lang="en-US" sz="1800" dirty="0"/>
              <a:t>(‘monster’)</a:t>
            </a:r>
          </a:p>
          <a:p>
            <a:pPr lvl="1"/>
            <a:r>
              <a:rPr lang="en-US" sz="1800" dirty="0"/>
              <a:t>Output of </a:t>
            </a:r>
            <a:r>
              <a:rPr lang="en-US" sz="1800" dirty="0" err="1"/>
              <a:t>b_list</a:t>
            </a:r>
            <a:r>
              <a:rPr lang="en-US" sz="1800" dirty="0"/>
              <a:t> : [‘bar’, ’</a:t>
            </a:r>
            <a:r>
              <a:rPr lang="en-US" sz="1800" dirty="0" err="1"/>
              <a:t>baz</a:t>
            </a:r>
            <a:r>
              <a:rPr lang="en-US" sz="1800" dirty="0"/>
              <a:t>’, ‘foo’, ‘monster’]</a:t>
            </a:r>
          </a:p>
          <a:p>
            <a:r>
              <a:rPr lang="en-US" sz="1800" b="1" dirty="0">
                <a:solidFill>
                  <a:schemeClr val="bg2"/>
                </a:solidFill>
                <a:latin typeface="TW Cen MT"/>
              </a:rPr>
              <a:t>insert()</a:t>
            </a:r>
            <a:r>
              <a:rPr lang="en-US" sz="1800" dirty="0">
                <a:latin typeface="TW Cen MT"/>
              </a:rPr>
              <a:t>: method to i</a:t>
            </a:r>
            <a:r>
              <a:rPr lang="en-US" sz="1800" dirty="0"/>
              <a:t>nsert an element to a specific location.</a:t>
            </a:r>
          </a:p>
          <a:p>
            <a:pPr lvl="1"/>
            <a:r>
              <a:rPr lang="en-US" sz="1800" err="1"/>
              <a:t>b_list.</a:t>
            </a:r>
            <a:r>
              <a:rPr lang="en-US" sz="1800" err="1">
                <a:solidFill>
                  <a:schemeClr val="bg2"/>
                </a:solidFill>
              </a:rPr>
              <a:t>insert</a:t>
            </a:r>
            <a:r>
              <a:rPr lang="en-US" sz="1800" dirty="0"/>
              <a:t>(3, ‘red’)   # 3 is the index, ‘red’ is the value</a:t>
            </a:r>
          </a:p>
          <a:p>
            <a:pPr lvl="1"/>
            <a:r>
              <a:rPr lang="en-US" sz="1800" dirty="0"/>
              <a:t>Output of </a:t>
            </a:r>
            <a:r>
              <a:rPr lang="en-US" sz="1800" dirty="0" err="1"/>
              <a:t>b_list</a:t>
            </a:r>
            <a:r>
              <a:rPr lang="en-US" sz="1800" dirty="0"/>
              <a:t>:</a:t>
            </a:r>
          </a:p>
          <a:p>
            <a:pPr marL="457200" lvl="1" indent="0">
              <a:buNone/>
            </a:pPr>
            <a:r>
              <a:rPr lang="en-US" sz="1800" dirty="0"/>
              <a:t> [‘bar’, ’</a:t>
            </a:r>
            <a:r>
              <a:rPr lang="en-US" sz="1800" dirty="0" err="1"/>
              <a:t>baz</a:t>
            </a:r>
            <a:r>
              <a:rPr lang="en-US" sz="1800" dirty="0"/>
              <a:t>’, ‘foo’, ‘red’, ‘monster’]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30F25-2E69-A603-FB04-7EFEE6E23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0400" y="1300942"/>
            <a:ext cx="4037010" cy="658367"/>
          </a:xfrm>
        </p:spPr>
        <p:txBody>
          <a:bodyPr>
            <a:normAutofit/>
          </a:bodyPr>
          <a:lstStyle/>
          <a:p>
            <a:r>
              <a:rPr lang="en-US" sz="3200" dirty="0"/>
              <a:t>Removing Elements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3200" y="2152554"/>
            <a:ext cx="5030791" cy="389359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i="1" dirty="0">
                <a:solidFill>
                  <a:schemeClr val="bg2"/>
                </a:solidFill>
              </a:rPr>
              <a:t>pop()</a:t>
            </a:r>
            <a:r>
              <a:rPr lang="en-US" sz="1800" b="1" i="1" dirty="0"/>
              <a:t>: </a:t>
            </a:r>
            <a:r>
              <a:rPr lang="en-US" sz="1800" dirty="0">
                <a:latin typeface="TW Cen MT"/>
              </a:rPr>
              <a:t>Removes an element</a:t>
            </a:r>
            <a:endParaRPr lang="en-US" sz="1800" dirty="0">
              <a:latin typeface="Tw Cen MT"/>
            </a:endParaRPr>
          </a:p>
          <a:p>
            <a:pPr lvl="1"/>
            <a:r>
              <a:rPr lang="en-US" sz="1600" err="1">
                <a:latin typeface="Tw Cen MT"/>
              </a:rPr>
              <a:t>b</a:t>
            </a:r>
            <a:r>
              <a:rPr lang="en-US" sz="1600" err="1"/>
              <a:t>_list.</a:t>
            </a:r>
            <a:r>
              <a:rPr lang="en-US" sz="1600" err="1">
                <a:solidFill>
                  <a:schemeClr val="bg2"/>
                </a:solidFill>
              </a:rPr>
              <a:t>pop</a:t>
            </a:r>
            <a:r>
              <a:rPr lang="en-US" sz="1600" dirty="0"/>
              <a:t>(2)</a:t>
            </a:r>
            <a:endParaRPr lang="en-US" dirty="0"/>
          </a:p>
          <a:p>
            <a:pPr lvl="1"/>
            <a:r>
              <a:rPr lang="en-US" sz="1600" dirty="0"/>
              <a:t>Output: ‘foo’</a:t>
            </a:r>
          </a:p>
          <a:p>
            <a:pPr lvl="1"/>
            <a:r>
              <a:rPr lang="en-US" sz="1600" dirty="0"/>
              <a:t>Output of </a:t>
            </a:r>
            <a:r>
              <a:rPr lang="en-US" sz="1600" dirty="0" err="1"/>
              <a:t>b_list</a:t>
            </a:r>
            <a:r>
              <a:rPr lang="en-US" sz="1600" dirty="0"/>
              <a:t>: [‘bar’, ’</a:t>
            </a:r>
            <a:r>
              <a:rPr lang="en-US" sz="1600" dirty="0" err="1"/>
              <a:t>baz</a:t>
            </a:r>
            <a:r>
              <a:rPr lang="en-US" sz="1600" dirty="0"/>
              <a:t>’, ‘red’, ‘monster’]</a:t>
            </a:r>
          </a:p>
          <a:p>
            <a:r>
              <a:rPr lang="en-US" sz="1800" b="1" dirty="0">
                <a:solidFill>
                  <a:schemeClr val="bg2"/>
                </a:solidFill>
                <a:latin typeface="TW Cen MT"/>
              </a:rPr>
              <a:t>remove()</a:t>
            </a:r>
            <a:r>
              <a:rPr lang="en-US" sz="1800" b="1" dirty="0">
                <a:latin typeface="TW Cen MT"/>
              </a:rPr>
              <a:t>: </a:t>
            </a:r>
            <a:r>
              <a:rPr lang="en-US" sz="1800" dirty="0"/>
              <a:t>removes an element </a:t>
            </a:r>
            <a:endParaRPr lang="en-US" sz="1800" b="1" dirty="0"/>
          </a:p>
          <a:p>
            <a:r>
              <a:rPr lang="en-US" sz="1800" dirty="0"/>
              <a:t>locates and removes the </a:t>
            </a:r>
            <a:r>
              <a:rPr lang="en-US" sz="1800" dirty="0">
                <a:solidFill>
                  <a:srgbClr val="FF0000"/>
                </a:solidFill>
              </a:rPr>
              <a:t>first matching element</a:t>
            </a:r>
            <a:r>
              <a:rPr lang="en-US" sz="1800" dirty="0"/>
              <a:t> in the list.</a:t>
            </a:r>
          </a:p>
          <a:p>
            <a:pPr lvl="1"/>
            <a:r>
              <a:rPr lang="en-US" sz="1600" dirty="0" err="1"/>
              <a:t>b_list.append</a:t>
            </a:r>
            <a:r>
              <a:rPr lang="en-US" sz="1600" dirty="0"/>
              <a:t>(‘red’)</a:t>
            </a:r>
          </a:p>
          <a:p>
            <a:pPr lvl="1"/>
            <a:r>
              <a:rPr lang="en-US" sz="1600" dirty="0"/>
              <a:t>Output: [‘bar’, ’</a:t>
            </a:r>
            <a:r>
              <a:rPr lang="en-US" sz="1600" dirty="0" err="1"/>
              <a:t>baz</a:t>
            </a:r>
            <a:r>
              <a:rPr lang="en-US" sz="1600" dirty="0"/>
              <a:t>’, ‘red’, ‘monster’, ‘red’]</a:t>
            </a:r>
          </a:p>
          <a:p>
            <a:pPr lvl="1"/>
            <a:r>
              <a:rPr lang="en-US" sz="1600" err="1"/>
              <a:t>b_list.</a:t>
            </a:r>
            <a:r>
              <a:rPr lang="en-US" sz="1600" err="1">
                <a:solidFill>
                  <a:schemeClr val="tx2">
                    <a:lumMod val="76000"/>
                  </a:schemeClr>
                </a:solidFill>
              </a:rPr>
              <a:t>remove</a:t>
            </a:r>
            <a:r>
              <a:rPr lang="en-US" sz="1600" dirty="0"/>
              <a:t>(‘red’)</a:t>
            </a:r>
          </a:p>
          <a:p>
            <a:pPr lvl="1"/>
            <a:r>
              <a:rPr lang="en-US" sz="1600" dirty="0"/>
              <a:t>Output: [‘bar’, ’</a:t>
            </a:r>
            <a:r>
              <a:rPr lang="en-US" sz="1600" dirty="0" err="1"/>
              <a:t>baz</a:t>
            </a:r>
            <a:r>
              <a:rPr lang="en-US" sz="1600" dirty="0"/>
              <a:t>’, ‘monster’, ‘red’]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625" y="-8034"/>
            <a:ext cx="878063" cy="86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976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212032"/>
            <a:ext cx="9906000" cy="67137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3C32-3637-4A6D-BDDF-6FD34EE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8342" y="891137"/>
            <a:ext cx="5030791" cy="658367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in</a:t>
            </a:r>
            <a:r>
              <a:rPr lang="en-US" sz="3200" dirty="0"/>
              <a:t> </a:t>
            </a:r>
            <a:r>
              <a:rPr lang="en-US" sz="2800" dirty="0"/>
              <a:t>and</a:t>
            </a:r>
            <a:r>
              <a:rPr lang="en-US" sz="3200" dirty="0"/>
              <a:t> </a:t>
            </a:r>
            <a:r>
              <a:rPr lang="en-US" sz="3200" b="1" dirty="0"/>
              <a:t>NOT</a:t>
            </a:r>
            <a:r>
              <a:rPr lang="en-US" sz="3200" dirty="0"/>
              <a:t> keywords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8864" y="1745516"/>
            <a:ext cx="5017720" cy="44216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 b="1" dirty="0">
                <a:solidFill>
                  <a:schemeClr val="bg2"/>
                </a:solidFill>
              </a:rPr>
              <a:t>in</a:t>
            </a:r>
            <a:r>
              <a:rPr lang="en-US" sz="2200" b="1" dirty="0"/>
              <a:t> </a:t>
            </a:r>
            <a:r>
              <a:rPr lang="en-US" sz="2200" dirty="0">
                <a:latin typeface="TW Cen MT"/>
              </a:rPr>
              <a:t>keyword to </a:t>
            </a:r>
            <a:r>
              <a:rPr lang="en-US" sz="2200" dirty="0">
                <a:latin typeface="Tw Cen MT"/>
              </a:rPr>
              <a:t>check</a:t>
            </a:r>
            <a:r>
              <a:rPr lang="en-US" sz="2200" dirty="0"/>
              <a:t> if a list contains a value</a:t>
            </a:r>
          </a:p>
          <a:p>
            <a:r>
              <a:rPr lang="en-US" sz="1800" dirty="0"/>
              <a:t>ex: ‘monster’ </a:t>
            </a:r>
            <a:r>
              <a:rPr lang="en-US" sz="1800" b="1" dirty="0">
                <a:solidFill>
                  <a:schemeClr val="bg2"/>
                </a:solidFill>
              </a:rPr>
              <a:t>in</a:t>
            </a:r>
            <a:r>
              <a:rPr lang="en-US" sz="1800" dirty="0"/>
              <a:t> </a:t>
            </a:r>
            <a:r>
              <a:rPr lang="en-US" sz="1800" dirty="0" err="1"/>
              <a:t>b_list</a:t>
            </a:r>
            <a:endParaRPr lang="en-US" sz="1800" dirty="0"/>
          </a:p>
          <a:p>
            <a:pPr lvl="1"/>
            <a:r>
              <a:rPr lang="en-US" sz="1800" dirty="0"/>
              <a:t>Output: True</a:t>
            </a:r>
          </a:p>
          <a:p>
            <a:r>
              <a:rPr lang="en-US" sz="2200" b="1" dirty="0">
                <a:solidFill>
                  <a:schemeClr val="bg2"/>
                </a:solidFill>
              </a:rPr>
              <a:t>not</a:t>
            </a:r>
            <a:r>
              <a:rPr lang="en-US" sz="2200" dirty="0">
                <a:solidFill>
                  <a:schemeClr val="bg2"/>
                </a:solidFill>
              </a:rPr>
              <a:t> </a:t>
            </a:r>
            <a:r>
              <a:rPr lang="en-US" sz="2200" dirty="0"/>
              <a:t>keyword to negate </a:t>
            </a:r>
            <a:r>
              <a:rPr lang="en-US" sz="2200" b="1" dirty="0">
                <a:solidFill>
                  <a:schemeClr val="bg2"/>
                </a:solidFill>
              </a:rPr>
              <a:t>in</a:t>
            </a:r>
            <a:r>
              <a:rPr lang="en-US" sz="2200" dirty="0"/>
              <a:t> keyword</a:t>
            </a:r>
          </a:p>
          <a:p>
            <a:pPr lvl="1"/>
            <a:r>
              <a:rPr lang="en-US" sz="1800" dirty="0"/>
              <a:t>‘monster’ </a:t>
            </a:r>
            <a:r>
              <a:rPr lang="en-US" sz="1800" b="1" dirty="0">
                <a:solidFill>
                  <a:schemeClr val="bg2"/>
                </a:solidFill>
              </a:rPr>
              <a:t>not in</a:t>
            </a:r>
            <a:r>
              <a:rPr lang="en-US" sz="1800" dirty="0"/>
              <a:t> </a:t>
            </a:r>
            <a:r>
              <a:rPr lang="en-US" sz="1800" dirty="0" err="1"/>
              <a:t>b_list</a:t>
            </a:r>
            <a:endParaRPr lang="en-US" sz="1800" dirty="0"/>
          </a:p>
          <a:p>
            <a:pPr lvl="1"/>
            <a:r>
              <a:rPr lang="en-US" sz="1800" dirty="0"/>
              <a:t>Output: False</a:t>
            </a:r>
          </a:p>
          <a:p>
            <a:r>
              <a:rPr lang="en-US" sz="2000" dirty="0"/>
              <a:t>Checking if a list contains a value is slower compared to using </a:t>
            </a:r>
            <a:r>
              <a:rPr lang="en-US" sz="2000" dirty="0" err="1"/>
              <a:t>dicts</a:t>
            </a:r>
            <a:r>
              <a:rPr lang="en-US" sz="2000" dirty="0"/>
              <a:t> and sets.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30F25-2E69-A603-FB04-7EFEE6E23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1595" y="1047712"/>
            <a:ext cx="4854944" cy="666431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Concatenating and Combining Lists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3200" y="1902033"/>
            <a:ext cx="5030791" cy="41441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TW Cen MT"/>
              </a:rPr>
              <a:t>+</a:t>
            </a:r>
            <a:r>
              <a:rPr lang="en-US" b="1" dirty="0">
                <a:latin typeface="TW Cen MT"/>
              </a:rPr>
              <a:t> </a:t>
            </a:r>
            <a:r>
              <a:rPr lang="en-US" dirty="0"/>
              <a:t>adds</a:t>
            </a:r>
            <a:r>
              <a:rPr lang="en-US" sz="2400" dirty="0"/>
              <a:t> lists together</a:t>
            </a:r>
            <a:endParaRPr lang="en-US" dirty="0">
              <a:latin typeface="TW Cen MT"/>
            </a:endParaRPr>
          </a:p>
          <a:p>
            <a:pPr marL="0" indent="0">
              <a:buNone/>
            </a:pPr>
            <a:r>
              <a:rPr lang="en-US" dirty="0"/>
              <a:t>Ex. </a:t>
            </a:r>
            <a:r>
              <a:rPr lang="en-US" dirty="0">
                <a:solidFill>
                  <a:srgbClr val="FFFF00"/>
                </a:solidFill>
              </a:rPr>
              <a:t>[4, None, ‘foo’] </a:t>
            </a:r>
            <a:r>
              <a:rPr lang="en-US" dirty="0">
                <a:solidFill>
                  <a:schemeClr val="bg2"/>
                </a:solidFill>
              </a:rPr>
              <a:t>+</a:t>
            </a:r>
            <a:r>
              <a:rPr lang="en-US" dirty="0"/>
              <a:t> </a:t>
            </a:r>
            <a:r>
              <a:rPr lang="en-US" dirty="0">
                <a:solidFill>
                  <a:srgbClr val="FFFF00"/>
                </a:solidFill>
              </a:rPr>
              <a:t>[5, 6, (7, 8)]</a:t>
            </a:r>
            <a:endParaRPr lang="en-US">
              <a:solidFill>
                <a:srgbClr val="FFFF00"/>
              </a:solidFill>
              <a:latin typeface="TW Cen MT"/>
            </a:endParaRPr>
          </a:p>
          <a:p>
            <a:r>
              <a:rPr lang="en-US" dirty="0"/>
              <a:t>Output: [4, None, ‘foo’, 5, 6, (7, 8)]</a:t>
            </a:r>
          </a:p>
          <a:p>
            <a:r>
              <a:rPr lang="en-US" b="1" dirty="0">
                <a:solidFill>
                  <a:schemeClr val="bg2"/>
                </a:solidFill>
                <a:latin typeface="TW Cen MT"/>
              </a:rPr>
              <a:t>extend()</a:t>
            </a:r>
            <a:r>
              <a:rPr lang="en-US" b="1" dirty="0">
                <a:latin typeface="TW Cen MT"/>
              </a:rPr>
              <a:t> </a:t>
            </a:r>
            <a:r>
              <a:rPr lang="en-US" dirty="0">
                <a:latin typeface="TW Cen MT"/>
              </a:rPr>
              <a:t>- method to a</a:t>
            </a:r>
            <a:r>
              <a:rPr lang="en-US" dirty="0"/>
              <a:t>ppend</a:t>
            </a:r>
            <a:r>
              <a:rPr lang="en-US" sz="2400" dirty="0"/>
              <a:t> multiple </a:t>
            </a:r>
            <a:r>
              <a:rPr lang="en-US" dirty="0"/>
              <a:t>elements</a:t>
            </a:r>
          </a:p>
          <a:p>
            <a:r>
              <a:rPr lang="en-US" dirty="0"/>
              <a:t>Ex.: a = [4, None, ‘foo’] 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sz="2000" err="1"/>
              <a:t>a.</a:t>
            </a:r>
            <a:r>
              <a:rPr lang="en-US" sz="2000" b="1" err="1">
                <a:solidFill>
                  <a:schemeClr val="bg2"/>
                </a:solidFill>
              </a:rPr>
              <a:t>extend</a:t>
            </a:r>
            <a:r>
              <a:rPr lang="en-US" sz="2000" dirty="0"/>
              <a:t>(5, 6, (7, 8))</a:t>
            </a:r>
          </a:p>
          <a:p>
            <a:r>
              <a:rPr lang="en-US" dirty="0"/>
              <a:t>Output: [4, None, ‘foo’, 5, 6, (7, 8)]</a:t>
            </a:r>
          </a:p>
          <a:p>
            <a:pPr lvl="1"/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692" y="2404"/>
            <a:ext cx="804995" cy="69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67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410360"/>
            <a:ext cx="9906000" cy="869704"/>
          </a:xfrm>
        </p:spPr>
        <p:txBody>
          <a:bodyPr/>
          <a:lstStyle/>
          <a:p>
            <a:pPr algn="ctr"/>
            <a:r>
              <a:rPr lang="en-US" sz="4000" dirty="0"/>
              <a:t>List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3C32-3637-4A6D-BDDF-6FD34EE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1287794"/>
            <a:ext cx="9186621" cy="658367"/>
          </a:xfrm>
        </p:spPr>
        <p:txBody>
          <a:bodyPr>
            <a:noAutofit/>
          </a:bodyPr>
          <a:lstStyle/>
          <a:p>
            <a:r>
              <a:rPr lang="en-US" sz="3600" dirty="0"/>
              <a:t>Sorting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71816"/>
            <a:ext cx="5498123" cy="37124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TW Cen MT"/>
              </a:rPr>
              <a:t>sort()</a:t>
            </a:r>
            <a:r>
              <a:rPr lang="en-US" b="1" dirty="0">
                <a:latin typeface="TW Cen MT"/>
              </a:rPr>
              <a:t>:</a:t>
            </a:r>
            <a:r>
              <a:rPr lang="en-US" dirty="0">
                <a:latin typeface="TW Cen MT"/>
              </a:rPr>
              <a:t> method that s</a:t>
            </a:r>
            <a:r>
              <a:rPr lang="en-US" dirty="0"/>
              <a:t>orts</a:t>
            </a:r>
            <a:r>
              <a:rPr lang="en-US" sz="2400" dirty="0"/>
              <a:t> elements in a list.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sz="2000" dirty="0"/>
              <a:t>a = [7, 1, 6, 9, 15 , 12, 0]</a:t>
            </a:r>
          </a:p>
          <a:p>
            <a:pPr marL="457200" lvl="1" indent="0">
              <a:buNone/>
            </a:pPr>
            <a:r>
              <a:rPr lang="en-US" sz="2000" err="1"/>
              <a:t>a.sort</a:t>
            </a:r>
            <a:r>
              <a:rPr lang="en-US" sz="2000" dirty="0"/>
              <a:t>()</a:t>
            </a:r>
          </a:p>
          <a:p>
            <a:pPr marL="457200" lvl="1" indent="0">
              <a:buNone/>
            </a:pPr>
            <a:r>
              <a:rPr lang="en-US" sz="2000" dirty="0"/>
              <a:t>a</a:t>
            </a:r>
          </a:p>
          <a:p>
            <a:r>
              <a:rPr lang="en-US" dirty="0"/>
              <a:t>Output: [0, 1, 6, 7, 9, 12, 15]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2501" y="-8034"/>
            <a:ext cx="857186" cy="855483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7310B4C-2FFE-037A-F3D5-1AA439EF61A7}"/>
              </a:ext>
            </a:extLst>
          </p:cNvPr>
          <p:cNvSpPr txBox="1">
            <a:spLocks/>
          </p:cNvSpPr>
          <p:nvPr/>
        </p:nvSpPr>
        <p:spPr>
          <a:xfrm>
            <a:off x="6128439" y="2371816"/>
            <a:ext cx="5496336" cy="323165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2"/>
                </a:solidFill>
              </a:rPr>
              <a:t>sort()</a:t>
            </a:r>
            <a:r>
              <a:rPr lang="en-US" sz="2400" dirty="0"/>
              <a:t> allows sorting by their lengths through its secondary sort</a:t>
            </a:r>
            <a:r>
              <a:rPr lang="en-US" sz="2400" dirty="0">
                <a:solidFill>
                  <a:schemeClr val="bg2"/>
                </a:solidFill>
              </a:rPr>
              <a:t> key</a:t>
            </a:r>
            <a:r>
              <a:rPr lang="en-US" sz="2400" dirty="0"/>
              <a:t>.</a:t>
            </a:r>
          </a:p>
          <a:p>
            <a:r>
              <a:rPr lang="en-US"/>
              <a:t>Example:</a:t>
            </a:r>
          </a:p>
          <a:p>
            <a:pPr marL="457200" lvl="1" indent="0">
              <a:buNone/>
            </a:pPr>
            <a:r>
              <a:rPr lang="en-US" dirty="0"/>
              <a:t>b</a:t>
            </a:r>
            <a:r>
              <a:rPr lang="en-US" sz="2000" dirty="0"/>
              <a:t> = [‘saw’, ‘small’, ‘</a:t>
            </a:r>
            <a:r>
              <a:rPr lang="en-US" dirty="0"/>
              <a:t>I</a:t>
            </a:r>
            <a:r>
              <a:rPr lang="en-US" sz="2000" dirty="0"/>
              <a:t>’, ‘foxes’, ‘six’]</a:t>
            </a:r>
            <a:endParaRPr lang="en-US"/>
          </a:p>
          <a:p>
            <a:pPr marL="457200" lvl="1" indent="0">
              <a:buNone/>
            </a:pPr>
            <a:r>
              <a:rPr lang="en-US" sz="2000" err="1"/>
              <a:t>b.</a:t>
            </a:r>
            <a:r>
              <a:rPr lang="en-US" sz="2000" err="1">
                <a:solidFill>
                  <a:schemeClr val="bg2"/>
                </a:solidFill>
              </a:rPr>
              <a:t>sort</a:t>
            </a:r>
            <a:r>
              <a:rPr lang="en-US" sz="2000" dirty="0"/>
              <a:t>(</a:t>
            </a:r>
            <a:r>
              <a:rPr lang="en-US" sz="2000" dirty="0">
                <a:solidFill>
                  <a:schemeClr val="bg2"/>
                </a:solidFill>
              </a:rPr>
              <a:t>key</a:t>
            </a:r>
            <a:r>
              <a:rPr lang="en-US" sz="2000" dirty="0"/>
              <a:t>=</a:t>
            </a:r>
            <a:r>
              <a:rPr lang="en-US" sz="2000" err="1"/>
              <a:t>len</a:t>
            </a:r>
            <a:r>
              <a:rPr lang="en-US" sz="2000" dirty="0"/>
              <a:t>)</a:t>
            </a:r>
          </a:p>
          <a:p>
            <a:pPr marL="457200" lvl="1" indent="0">
              <a:buNone/>
            </a:pPr>
            <a:r>
              <a:rPr lang="en-US" sz="2000" dirty="0"/>
              <a:t>b</a:t>
            </a:r>
          </a:p>
          <a:p>
            <a:r>
              <a:rPr lang="en-US" dirty="0"/>
              <a:t>Output: [‘I’, ‘saw’ , ‘six’, ‘small’, ‘foxes’]</a:t>
            </a:r>
            <a:endParaRPr lang="en-US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73754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212031"/>
            <a:ext cx="9906000" cy="869704"/>
          </a:xfrm>
        </p:spPr>
        <p:txBody>
          <a:bodyPr/>
          <a:lstStyle/>
          <a:p>
            <a:pPr algn="ctr"/>
            <a:r>
              <a:rPr lang="en-US" sz="4000" dirty="0"/>
              <a:t>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3C32-3637-4A6D-BDDF-6FD34EE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6752" y="1089465"/>
            <a:ext cx="9186621" cy="658367"/>
          </a:xfrm>
        </p:spPr>
        <p:txBody>
          <a:bodyPr>
            <a:noAutofit/>
          </a:bodyPr>
          <a:lstStyle/>
          <a:p>
            <a:r>
              <a:rPr lang="en-US" sz="3600" dirty="0" err="1"/>
              <a:t>SLICing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4044" y="2079542"/>
            <a:ext cx="4970585" cy="37124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Slice </a:t>
            </a:r>
            <a:r>
              <a:rPr lang="en-US" dirty="0"/>
              <a:t>notation allows</a:t>
            </a:r>
            <a:r>
              <a:rPr lang="en-US" sz="2400" dirty="0"/>
              <a:t> us to select sections of the sequence type. </a:t>
            </a:r>
          </a:p>
          <a:p>
            <a:r>
              <a:rPr lang="en-US" sz="2400" dirty="0"/>
              <a:t>basic form – [</a:t>
            </a:r>
            <a:r>
              <a:rPr lang="en-US" sz="2400" b="1" dirty="0">
                <a:solidFill>
                  <a:srgbClr val="7030A0"/>
                </a:solidFill>
              </a:rPr>
              <a:t>start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: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FF00"/>
                </a:solidFill>
              </a:rPr>
              <a:t>stop</a:t>
            </a:r>
            <a:r>
              <a:rPr lang="en-US" sz="2400" b="1" dirty="0"/>
              <a:t>]</a:t>
            </a:r>
            <a:endParaRPr lang="en-US" sz="2400" dirty="0"/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sz="2000" dirty="0"/>
              <a:t>seq = [1, 2, 3, 4, 5, 6, 7, 8]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(index)  0  1  2   3  4  5   6  7    </a:t>
            </a:r>
          </a:p>
          <a:p>
            <a:pPr marL="457200" lvl="1" indent="0">
              <a:buNone/>
            </a:pPr>
            <a:r>
              <a:rPr lang="en-US" sz="2000" dirty="0"/>
              <a:t>seq[</a:t>
            </a:r>
            <a:r>
              <a:rPr lang="en-US" sz="2000" dirty="0">
                <a:solidFill>
                  <a:srgbClr val="7030A0"/>
                </a:solidFill>
              </a:rPr>
              <a:t>2</a:t>
            </a:r>
            <a:r>
              <a:rPr lang="en-US" sz="2000" dirty="0">
                <a:solidFill>
                  <a:srgbClr val="C00000"/>
                </a:solidFill>
              </a:rPr>
              <a:t>:</a:t>
            </a:r>
            <a:r>
              <a:rPr lang="en-US" sz="2000" dirty="0">
                <a:solidFill>
                  <a:srgbClr val="FFFF00"/>
                </a:solidFill>
              </a:rPr>
              <a:t>6</a:t>
            </a:r>
            <a:r>
              <a:rPr lang="en-US" sz="2000" dirty="0"/>
              <a:t>]   # [</a:t>
            </a:r>
            <a:r>
              <a:rPr lang="en-US" sz="2000" b="1" dirty="0">
                <a:solidFill>
                  <a:srgbClr val="7030A0"/>
                </a:solidFill>
              </a:rPr>
              <a:t>start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: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FFFF00"/>
                </a:solidFill>
              </a:rPr>
              <a:t>stop</a:t>
            </a:r>
            <a:r>
              <a:rPr lang="en-US" sz="2000" b="1" dirty="0"/>
              <a:t>]</a:t>
            </a:r>
            <a:endParaRPr lang="en-US" sz="2000" dirty="0"/>
          </a:p>
          <a:p>
            <a:r>
              <a:rPr lang="en-US" dirty="0"/>
              <a:t>Output: [3, 4, 5, 6]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186" y="-8034"/>
            <a:ext cx="878063" cy="86592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7310B4C-2FFE-037A-F3D5-1AA439EF61A7}"/>
              </a:ext>
            </a:extLst>
          </p:cNvPr>
          <p:cNvSpPr txBox="1">
            <a:spLocks/>
          </p:cNvSpPr>
          <p:nvPr/>
        </p:nvSpPr>
        <p:spPr>
          <a:xfrm>
            <a:off x="5950986" y="2079542"/>
            <a:ext cx="5379769" cy="35717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Slice – can assign</a:t>
            </a:r>
            <a:r>
              <a:rPr lang="en-US" sz="2400" dirty="0"/>
              <a:t> values to a sequence.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sz="2000" dirty="0"/>
              <a:t>seq[2:4] = [3, 4]</a:t>
            </a:r>
          </a:p>
          <a:p>
            <a:r>
              <a:rPr lang="en-US" dirty="0"/>
              <a:t>Output of seq: [1, 2, 3, 4, 5, 6, 7, 8]</a:t>
            </a:r>
          </a:p>
          <a:p>
            <a:r>
              <a:rPr lang="en-US" b="1" dirty="0">
                <a:solidFill>
                  <a:srgbClr val="7030A0"/>
                </a:solidFill>
              </a:rPr>
              <a:t>start</a:t>
            </a:r>
            <a:r>
              <a:rPr lang="en-US" sz="2400" dirty="0"/>
              <a:t> index is </a:t>
            </a:r>
            <a:r>
              <a:rPr lang="en-US" sz="2400" dirty="0">
                <a:solidFill>
                  <a:srgbClr val="FF0000"/>
                </a:solidFill>
              </a:rPr>
              <a:t>included</a:t>
            </a:r>
            <a:endParaRPr lang="en-US" dirty="0"/>
          </a:p>
          <a:p>
            <a:r>
              <a:rPr lang="en-US" sz="2400" b="1" dirty="0">
                <a:solidFill>
                  <a:srgbClr val="FFFF00"/>
                </a:solidFill>
              </a:rPr>
              <a:t>stop</a:t>
            </a:r>
            <a:r>
              <a:rPr lang="en-US" sz="2400" dirty="0"/>
              <a:t> index is </a:t>
            </a:r>
            <a:r>
              <a:rPr lang="en-US" sz="2400" dirty="0">
                <a:solidFill>
                  <a:srgbClr val="FF0000"/>
                </a:solidFill>
              </a:rPr>
              <a:t>not included</a:t>
            </a:r>
            <a:endParaRPr lang="en-US" sz="1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708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316415"/>
            <a:ext cx="9906000" cy="717304"/>
          </a:xfrm>
        </p:spPr>
        <p:txBody>
          <a:bodyPr/>
          <a:lstStyle/>
          <a:p>
            <a:pPr algn="ctr"/>
            <a:r>
              <a:rPr lang="en-US" sz="4000" dirty="0"/>
              <a:t>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3C32-3637-4A6D-BDDF-6FD34EE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6752" y="856267"/>
            <a:ext cx="9186621" cy="597878"/>
          </a:xfrm>
        </p:spPr>
        <p:txBody>
          <a:bodyPr>
            <a:noAutofit/>
          </a:bodyPr>
          <a:lstStyle/>
          <a:p>
            <a:r>
              <a:rPr lang="en-US" sz="3600" dirty="0" err="1"/>
              <a:t>SLICing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5651" y="1752863"/>
            <a:ext cx="4302368" cy="24684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start</a:t>
            </a:r>
            <a:r>
              <a:rPr lang="en-US" sz="2400" dirty="0"/>
              <a:t> is omitted -</a:t>
            </a:r>
            <a:r>
              <a:rPr lang="en-US" dirty="0"/>
              <a:t> </a:t>
            </a:r>
            <a:r>
              <a:rPr lang="en-US" sz="2400" dirty="0"/>
              <a:t>defaults to the start of the sequence</a:t>
            </a:r>
          </a:p>
          <a:p>
            <a:pPr marL="457200" lvl="1" indent="0">
              <a:buNone/>
            </a:pPr>
            <a:r>
              <a:rPr lang="en-US" sz="2400" dirty="0"/>
              <a:t>seq</a:t>
            </a:r>
            <a:r>
              <a:rPr lang="en-US" dirty="0"/>
              <a:t> = </a:t>
            </a:r>
            <a:r>
              <a:rPr lang="en-US" sz="2400" dirty="0"/>
              <a:t> [1, 2, 3, 4, 5, 6, 7, 8]</a:t>
            </a:r>
          </a:p>
          <a:p>
            <a:pPr marL="457200" lvl="1" indent="0">
              <a:buNone/>
            </a:pPr>
            <a:r>
              <a:rPr lang="en-US" sz="2400" dirty="0"/>
              <a:t>seq[:4]</a:t>
            </a:r>
          </a:p>
          <a:p>
            <a:r>
              <a:rPr lang="en-US" sz="2800" dirty="0"/>
              <a:t>Output: [1, 2, 3, 4]</a:t>
            </a:r>
          </a:p>
          <a:p>
            <a:pPr lvl="1"/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624" y="-8034"/>
            <a:ext cx="888502" cy="7511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7310B4C-2FFE-037A-F3D5-1AA439EF61A7}"/>
              </a:ext>
            </a:extLst>
          </p:cNvPr>
          <p:cNvSpPr txBox="1">
            <a:spLocks/>
          </p:cNvSpPr>
          <p:nvPr/>
        </p:nvSpPr>
        <p:spPr>
          <a:xfrm>
            <a:off x="6506308" y="1879450"/>
            <a:ext cx="4771292" cy="22119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 </a:t>
            </a:r>
            <a:r>
              <a:rPr lang="en-US" sz="2400" b="1" dirty="0">
                <a:solidFill>
                  <a:srgbClr val="00B050"/>
                </a:solidFill>
              </a:rPr>
              <a:t>step</a:t>
            </a:r>
            <a:r>
              <a:rPr lang="en-US" sz="2400" dirty="0"/>
              <a:t> can be used after a second </a:t>
            </a:r>
            <a:r>
              <a:rPr lang="en-US" dirty="0"/>
              <a:t>colon</a:t>
            </a:r>
            <a:r>
              <a:rPr lang="en-US" sz="2400" dirty="0"/>
              <a:t> to skip a certain number of elements at a time.</a:t>
            </a:r>
          </a:p>
          <a:p>
            <a:pPr marL="457200" lvl="1" indent="0">
              <a:buNone/>
            </a:pPr>
            <a:r>
              <a:rPr lang="en-US" sz="2000" dirty="0"/>
              <a:t>seq[::</a:t>
            </a:r>
            <a:r>
              <a:rPr lang="en-US" sz="2000" dirty="0">
                <a:solidFill>
                  <a:schemeClr val="accent6">
                    <a:lumMod val="49000"/>
                  </a:schemeClr>
                </a:solidFill>
              </a:rPr>
              <a:t>2</a:t>
            </a:r>
            <a:r>
              <a:rPr lang="en-US" sz="2000" dirty="0"/>
              <a:t>]</a:t>
            </a:r>
          </a:p>
          <a:p>
            <a:r>
              <a:rPr lang="en-US" dirty="0"/>
              <a:t>Output: [1, 3, 5, 7]</a:t>
            </a:r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CFF8F32-C780-4169-2CEA-0A3FACE998FD}"/>
              </a:ext>
            </a:extLst>
          </p:cNvPr>
          <p:cNvSpPr txBox="1">
            <a:spLocks/>
          </p:cNvSpPr>
          <p:nvPr/>
        </p:nvSpPr>
        <p:spPr>
          <a:xfrm>
            <a:off x="3774834" y="4610917"/>
            <a:ext cx="4044458" cy="20609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FFFF00"/>
                </a:solidFill>
              </a:rPr>
              <a:t>stop</a:t>
            </a:r>
            <a:r>
              <a:rPr lang="en-US" sz="2400" dirty="0"/>
              <a:t> is omitted –</a:t>
            </a:r>
            <a:r>
              <a:rPr lang="en-US" dirty="0"/>
              <a:t> </a:t>
            </a:r>
            <a:r>
              <a:rPr lang="en-US" sz="2400" dirty="0"/>
              <a:t>defaults to the end of the sequence</a:t>
            </a:r>
          </a:p>
          <a:p>
            <a:pPr marL="457200" lvl="1" indent="0">
              <a:buNone/>
            </a:pPr>
            <a:r>
              <a:rPr lang="en-US" dirty="0"/>
              <a:t> seq[3:]</a:t>
            </a:r>
          </a:p>
          <a:p>
            <a:r>
              <a:rPr lang="en-US" dirty="0"/>
              <a:t>Output: [4, 5, 6, 7, 8]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3094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49401"/>
            <a:ext cx="9906000" cy="717304"/>
          </a:xfrm>
        </p:spPr>
        <p:txBody>
          <a:bodyPr/>
          <a:lstStyle/>
          <a:p>
            <a:pPr algn="ctr"/>
            <a:r>
              <a:rPr lang="en-US" sz="4000" dirty="0"/>
              <a:t>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3C32-3637-4A6D-BDDF-6FD34EE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731007"/>
            <a:ext cx="9186621" cy="597878"/>
          </a:xfrm>
        </p:spPr>
        <p:txBody>
          <a:bodyPr>
            <a:noAutofit/>
          </a:bodyPr>
          <a:lstStyle/>
          <a:p>
            <a:r>
              <a:rPr lang="en-US" sz="3600" dirty="0" err="1"/>
              <a:t>SLICing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9951" y="1366645"/>
            <a:ext cx="4731803" cy="46395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negative</a:t>
            </a:r>
            <a:r>
              <a:rPr lang="en-US" sz="2400" dirty="0">
                <a:solidFill>
                  <a:srgbClr val="C00000"/>
                </a:solidFill>
              </a:rPr>
              <a:t> indices</a:t>
            </a:r>
            <a:r>
              <a:rPr lang="en-US" sz="2400" dirty="0"/>
              <a:t> can be used in slicing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s</a:t>
            </a:r>
            <a:r>
              <a:rPr lang="en-US" sz="2000" dirty="0"/>
              <a:t>eq = [1, 2, 3, 4, 5, 6, 7, 8</a:t>
            </a:r>
            <a:r>
              <a:rPr lang="en-US" dirty="0"/>
              <a:t>]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(index)   -8 -7 -6 -5 -4  -3 -2 -1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2000" dirty="0"/>
              <a:t>seq[-4:]</a:t>
            </a:r>
          </a:p>
          <a:p>
            <a:r>
              <a:rPr lang="en-US" dirty="0"/>
              <a:t>Output: [5, 6, 7, 8]</a:t>
            </a:r>
          </a:p>
          <a:p>
            <a:r>
              <a:rPr lang="en-US" dirty="0">
                <a:latin typeface="TW Cen MT"/>
              </a:rPr>
              <a:t>Example:</a:t>
            </a:r>
          </a:p>
          <a:p>
            <a:pPr marL="0" indent="0">
              <a:buNone/>
            </a:pPr>
            <a:r>
              <a:rPr lang="en-US" dirty="0"/>
              <a:t>  seq[-6:-2]</a:t>
            </a:r>
          </a:p>
          <a:p>
            <a:r>
              <a:rPr lang="en-US" dirty="0"/>
              <a:t>Output: [3, 4, 5, 6]</a:t>
            </a:r>
            <a:endParaRPr lang="en-US"/>
          </a:p>
          <a:p>
            <a:pPr lvl="1"/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378" y="-8034"/>
            <a:ext cx="846748" cy="876360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CFF8F32-C780-4169-2CEA-0A3FACE998FD}"/>
              </a:ext>
            </a:extLst>
          </p:cNvPr>
          <p:cNvSpPr txBox="1">
            <a:spLocks/>
          </p:cNvSpPr>
          <p:nvPr/>
        </p:nvSpPr>
        <p:spPr>
          <a:xfrm>
            <a:off x="5730819" y="4120315"/>
            <a:ext cx="5400098" cy="24263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6">
                    <a:lumMod val="49000"/>
                  </a:schemeClr>
                </a:solidFill>
              </a:rPr>
              <a:t>Step</a:t>
            </a:r>
            <a:r>
              <a:rPr lang="en-US" sz="2400" dirty="0"/>
              <a:t> can be </a:t>
            </a:r>
            <a:r>
              <a:rPr lang="en-US" sz="2400" dirty="0">
                <a:solidFill>
                  <a:srgbClr val="C00000"/>
                </a:solidFill>
              </a:rPr>
              <a:t>negative</a:t>
            </a:r>
            <a:r>
              <a:rPr lang="en-US" sz="2400" dirty="0"/>
              <a:t> to </a:t>
            </a:r>
            <a:r>
              <a:rPr lang="en-US" sz="2400" dirty="0">
                <a:solidFill>
                  <a:srgbClr val="C00000"/>
                </a:solidFill>
              </a:rPr>
              <a:t>reverse</a:t>
            </a:r>
            <a:r>
              <a:rPr lang="en-US" sz="2400" dirty="0"/>
              <a:t> a list.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sz="2000" dirty="0"/>
              <a:t>seq[::</a:t>
            </a:r>
            <a:r>
              <a:rPr lang="en-US" sz="2000" dirty="0">
                <a:solidFill>
                  <a:srgbClr val="C00000"/>
                </a:solidFill>
              </a:rPr>
              <a:t>-1</a:t>
            </a:r>
            <a:r>
              <a:rPr lang="en-US" sz="2000" dirty="0"/>
              <a:t>] </a:t>
            </a:r>
            <a:endParaRPr lang="en-US" dirty="0"/>
          </a:p>
          <a:p>
            <a:r>
              <a:rPr lang="en-US" dirty="0"/>
              <a:t>Output: [8, 7, 6, 5, 4, 3, 2, 1]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C10B05-6553-6B73-F972-56EA4A4D0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429" y="1567043"/>
            <a:ext cx="6017302" cy="255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50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420798"/>
            <a:ext cx="9906000" cy="717304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List BUILT-IN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3C32-3637-4A6D-BDDF-6FD34EE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2807" y="1396642"/>
            <a:ext cx="9186621" cy="474367"/>
          </a:xfrm>
        </p:spPr>
        <p:txBody>
          <a:bodyPr>
            <a:noAutofit/>
          </a:bodyPr>
          <a:lstStyle/>
          <a:p>
            <a:r>
              <a:rPr lang="en-US" sz="2800" dirty="0"/>
              <a:t>Enumerate: python's built-in function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8665" y="2087669"/>
            <a:ext cx="4062286" cy="37029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Keeping</a:t>
            </a:r>
            <a:r>
              <a:rPr lang="en-US" sz="2400" dirty="0"/>
              <a:t> track of the index when iterating over a sequence</a:t>
            </a:r>
            <a:r>
              <a:rPr lang="en-US" dirty="0"/>
              <a:t>:</a:t>
            </a:r>
            <a:endParaRPr lang="en-US" sz="2400" dirty="0"/>
          </a:p>
          <a:p>
            <a:r>
              <a:rPr lang="en-US" dirty="0"/>
              <a:t>Do-it-yourself</a:t>
            </a:r>
            <a:r>
              <a:rPr lang="en-US" sz="2400" dirty="0"/>
              <a:t> approach:</a:t>
            </a:r>
          </a:p>
          <a:p>
            <a:pPr marL="457200" lvl="1" indent="0">
              <a:buNone/>
            </a:pPr>
            <a:r>
              <a:rPr lang="en-US" dirty="0"/>
              <a:t>index</a:t>
            </a:r>
            <a:r>
              <a:rPr lang="en-US" sz="2000" dirty="0"/>
              <a:t> = 0</a:t>
            </a:r>
          </a:p>
          <a:p>
            <a:pPr marL="457200" lvl="1" indent="0">
              <a:buNone/>
            </a:pPr>
            <a:r>
              <a:rPr lang="en-US" sz="2000" dirty="0"/>
              <a:t>for value in collection:</a:t>
            </a:r>
          </a:p>
          <a:p>
            <a:pPr marL="457200" lvl="1" indent="0">
              <a:buNone/>
            </a:pPr>
            <a:r>
              <a:rPr lang="en-US" sz="2000" dirty="0"/>
              <a:t>    #do something with value</a:t>
            </a:r>
          </a:p>
          <a:p>
            <a:pPr marL="457200" lvl="1" indent="0">
              <a:buNone/>
            </a:pPr>
            <a:r>
              <a:rPr lang="en-US" sz="2000" dirty="0"/>
              <a:t>  	  </a:t>
            </a:r>
            <a:r>
              <a:rPr lang="en-US" dirty="0"/>
              <a:t>index</a:t>
            </a:r>
            <a:r>
              <a:rPr lang="en-US" sz="2000" dirty="0"/>
              <a:t> += 1</a:t>
            </a:r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624" y="-8034"/>
            <a:ext cx="888502" cy="855483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7310B4C-2FFE-037A-F3D5-1AA439EF61A7}"/>
              </a:ext>
            </a:extLst>
          </p:cNvPr>
          <p:cNvSpPr txBox="1">
            <a:spLocks/>
          </p:cNvSpPr>
          <p:nvPr/>
        </p:nvSpPr>
        <p:spPr>
          <a:xfrm>
            <a:off x="6033534" y="2098235"/>
            <a:ext cx="5026631" cy="39722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2"/>
                </a:solidFill>
                <a:latin typeface="TW Cen MT"/>
              </a:rPr>
              <a:t>enumerate()</a:t>
            </a:r>
            <a:r>
              <a:rPr lang="en-US" b="1" dirty="0">
                <a:latin typeface="TW Cen MT"/>
              </a:rPr>
              <a:t> </a:t>
            </a:r>
            <a:r>
              <a:rPr lang="en-US" dirty="0">
                <a:latin typeface="TW Cen MT"/>
              </a:rPr>
              <a:t>-</a:t>
            </a:r>
            <a:r>
              <a:rPr lang="en-US" b="1" dirty="0">
                <a:latin typeface="TW Cen MT"/>
              </a:rPr>
              <a:t> </a:t>
            </a:r>
            <a:r>
              <a:rPr lang="en-US" dirty="0"/>
              <a:t>Python’s</a:t>
            </a:r>
            <a:r>
              <a:rPr lang="en-US" sz="2400" dirty="0"/>
              <a:t> built-in function</a:t>
            </a:r>
            <a:r>
              <a:rPr lang="en-US" dirty="0"/>
              <a:t> to keep track of index when iterating a sequence</a:t>
            </a:r>
            <a:r>
              <a:rPr lang="en-US" sz="2400" dirty="0"/>
              <a:t>.</a:t>
            </a:r>
            <a:endParaRPr lang="en-US"/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dirty="0"/>
              <a:t>Returns: (index, value) 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dirty="0"/>
              <a:t>Example</a:t>
            </a:r>
            <a:r>
              <a:rPr lang="en-US" sz="2000" dirty="0"/>
              <a:t>:</a:t>
            </a:r>
          </a:p>
          <a:p>
            <a:pPr marL="457200" lvl="1" indent="0">
              <a:buNone/>
            </a:pPr>
            <a:r>
              <a:rPr lang="en-US" sz="2000" dirty="0"/>
              <a:t>for </a:t>
            </a:r>
            <a:r>
              <a:rPr lang="en-US" dirty="0"/>
              <a:t>index</a:t>
            </a:r>
            <a:r>
              <a:rPr lang="en-US" sz="2000" dirty="0"/>
              <a:t>, value in </a:t>
            </a:r>
            <a:r>
              <a:rPr lang="en-US" sz="2000" dirty="0">
                <a:solidFill>
                  <a:schemeClr val="bg2"/>
                </a:solidFill>
              </a:rPr>
              <a:t>enumerate</a:t>
            </a:r>
            <a:r>
              <a:rPr lang="en-US" sz="2000" dirty="0"/>
              <a:t>(collection):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sz="2000" dirty="0"/>
              <a:t>   # do something with value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11437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934" y="428481"/>
            <a:ext cx="9905998" cy="882132"/>
          </a:xfrm>
        </p:spPr>
        <p:txBody>
          <a:bodyPr/>
          <a:lstStyle/>
          <a:p>
            <a:pPr algn="ctr"/>
            <a:r>
              <a:rPr lang="en-US" dirty="0"/>
              <a:t>Tuples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6E532-AE31-6638-6706-F28020FFB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90517" y="1721877"/>
            <a:ext cx="3698901" cy="500449"/>
          </a:xfrm>
        </p:spPr>
        <p:txBody>
          <a:bodyPr/>
          <a:lstStyle/>
          <a:p>
            <a:pPr algn="ctr"/>
            <a:r>
              <a:rPr lang="en-US" dirty="0"/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2275167" y="2619632"/>
            <a:ext cx="3712596" cy="336103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Sequence of Python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Fixed-length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Immutable</a:t>
            </a:r>
            <a:r>
              <a:rPr lang="en-US" sz="2000" dirty="0"/>
              <a:t> – cannot be modified.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Produce error when modifying the value of an object in the tuple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B03E9-2A8B-A6A6-E3A9-FC4D6FEA1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4281" y="1721877"/>
            <a:ext cx="3184385" cy="500449"/>
          </a:xfrm>
        </p:spPr>
        <p:txBody>
          <a:bodyPr/>
          <a:lstStyle/>
          <a:p>
            <a:pPr algn="ctr"/>
            <a:r>
              <a:rPr lang="en-US" dirty="0"/>
              <a:t>Creation: Simple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976326-1AFF-02CA-58FF-22A4B1856CF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998844" y="2619632"/>
            <a:ext cx="3800610" cy="317473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Assign a sequence of values </a:t>
            </a:r>
            <a:r>
              <a:rPr lang="en-US" sz="2000" dirty="0">
                <a:solidFill>
                  <a:srgbClr val="C00000"/>
                </a:solidFill>
              </a:rPr>
              <a:t>separated by comma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Example:</a:t>
            </a:r>
          </a:p>
          <a:p>
            <a:r>
              <a:rPr lang="en-US" sz="1800" dirty="0"/>
              <a:t>  tup = 5, 6, 7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Output for tup: (5, 6, 7)</a:t>
            </a:r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6C6FFB-BE59-455F-8666-329F83EE2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9891" y="-8034"/>
            <a:ext cx="878064" cy="87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10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79500"/>
          </a:xfrm>
        </p:spPr>
        <p:txBody>
          <a:bodyPr/>
          <a:lstStyle/>
          <a:p>
            <a:pPr algn="ctr"/>
            <a:r>
              <a:rPr lang="en-US" dirty="0"/>
              <a:t>Tuples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6E532-AE31-6638-6706-F28020FFB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3743" y="1689100"/>
            <a:ext cx="3747118" cy="639200"/>
          </a:xfrm>
        </p:spPr>
        <p:txBody>
          <a:bodyPr/>
          <a:lstStyle/>
          <a:p>
            <a:pPr algn="ctr"/>
            <a:r>
              <a:rPr lang="en-US" dirty="0"/>
              <a:t>Complex structure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407159" y="2514600"/>
            <a:ext cx="4040286" cy="346607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Example:</a:t>
            </a:r>
          </a:p>
          <a:p>
            <a:r>
              <a:rPr lang="en-US" sz="1800" dirty="0">
                <a:sym typeface="Wingdings" panose="05000000000000000000" pitchFamily="2" charset="2"/>
              </a:rPr>
              <a:t>         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/>
              <a:t>nested_tup</a:t>
            </a:r>
            <a:r>
              <a:rPr lang="en-US" sz="2000" dirty="0"/>
              <a:t> = (4, 5, 6), (7, 8)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Output for </a:t>
            </a:r>
            <a:r>
              <a:rPr lang="en-US" sz="2000" dirty="0" err="1"/>
              <a:t>nested_tup</a:t>
            </a:r>
            <a:r>
              <a:rPr lang="en-US" sz="2000" dirty="0"/>
              <a:t>: </a:t>
            </a:r>
          </a:p>
          <a:p>
            <a:r>
              <a:rPr lang="en-US" sz="2000" dirty="0">
                <a:sym typeface="Wingdings" panose="05000000000000000000" pitchFamily="2" charset="2"/>
              </a:rPr>
              <a:t>         </a:t>
            </a:r>
            <a:r>
              <a:rPr lang="en-US" sz="2000" dirty="0"/>
              <a:t>((4, 5, 6), (7, 8))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B03E9-2A8B-A6A6-E3A9-FC4D6FEA1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4118" y="1794133"/>
            <a:ext cx="4572000" cy="534167"/>
          </a:xfrm>
        </p:spPr>
        <p:txBody>
          <a:bodyPr/>
          <a:lstStyle/>
          <a:p>
            <a:r>
              <a:rPr lang="en-US" dirty="0"/>
              <a:t>other Sequence to Tuple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976326-1AFF-02CA-58FF-22A4B1856CF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111238" y="2548335"/>
            <a:ext cx="5326311" cy="3661784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/>
                </a:solidFill>
              </a:rPr>
              <a:t>tuple()</a:t>
            </a:r>
            <a:r>
              <a:rPr lang="en-US" sz="2000" dirty="0"/>
              <a:t>: converts a sequence or iterator to a tuple.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List to tuple: 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tuple</a:t>
            </a:r>
            <a:r>
              <a:rPr lang="en-US" sz="1800" dirty="0"/>
              <a:t>([3, 6, 8])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Output: (3, 6, 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String to tuple: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tup = </a:t>
            </a:r>
            <a:r>
              <a:rPr lang="en-US" sz="1800" dirty="0">
                <a:solidFill>
                  <a:schemeClr val="bg2"/>
                </a:solidFill>
              </a:rPr>
              <a:t>tuple</a:t>
            </a:r>
            <a:r>
              <a:rPr lang="en-US" sz="1800" dirty="0"/>
              <a:t>(‘welcome’)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Output: (‘w’, ‘e’, ‘l’, ‘c’, ‘o’, ‘m’, ‘e’)</a:t>
            </a:r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93293-4BD6-270E-6D55-2E9BC133E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47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921E-EC87-3861-32D6-1C146BF8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73758"/>
          </a:xfrm>
        </p:spPr>
        <p:txBody>
          <a:bodyPr/>
          <a:lstStyle/>
          <a:p>
            <a:pPr algn="ctr"/>
            <a:r>
              <a:rPr lang="en-US" dirty="0"/>
              <a:t>TUPLES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E10CDC-6436-BBE8-B18E-227332CA84BC}"/>
              </a:ext>
            </a:extLst>
          </p:cNvPr>
          <p:cNvSpPr txBox="1">
            <a:spLocks/>
          </p:cNvSpPr>
          <p:nvPr/>
        </p:nvSpPr>
        <p:spPr>
          <a:xfrm>
            <a:off x="1612348" y="1875402"/>
            <a:ext cx="3639590" cy="5579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ACCESSING ELEMENTS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6B4726-B887-AE65-79C3-09810318F35C}"/>
              </a:ext>
            </a:extLst>
          </p:cNvPr>
          <p:cNvSpPr txBox="1">
            <a:spLocks/>
          </p:cNvSpPr>
          <p:nvPr/>
        </p:nvSpPr>
        <p:spPr>
          <a:xfrm>
            <a:off x="1612349" y="2616460"/>
            <a:ext cx="3299620" cy="3631940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 square brackets: </a:t>
            </a:r>
            <a:r>
              <a:rPr lang="en-US" sz="2000" b="1" dirty="0">
                <a:solidFill>
                  <a:srgbClr val="C00000"/>
                </a:solidFill>
              </a:rPr>
              <a:t>[ 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Indexing starts from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Example: tup = 5, 6, 7</a:t>
            </a:r>
          </a:p>
          <a:p>
            <a:pPr marL="457200" lvl="1" indent="0">
              <a:buNone/>
            </a:pPr>
            <a:r>
              <a:rPr lang="en-US" sz="1800" dirty="0"/>
              <a:t>tup</a:t>
            </a:r>
            <a:r>
              <a:rPr lang="en-US" sz="1800" dirty="0">
                <a:solidFill>
                  <a:srgbClr val="C00000"/>
                </a:solidFill>
              </a:rPr>
              <a:t>[</a:t>
            </a:r>
            <a:r>
              <a:rPr lang="en-US" sz="1800" dirty="0"/>
              <a:t>0</a:t>
            </a:r>
            <a:r>
              <a:rPr lang="en-US" sz="1800" dirty="0">
                <a:solidFill>
                  <a:srgbClr val="C00000"/>
                </a:solidFill>
              </a:rPr>
              <a:t>]</a:t>
            </a:r>
            <a:r>
              <a:rPr lang="en-US" sz="1800" dirty="0"/>
              <a:t> </a:t>
            </a:r>
          </a:p>
          <a:p>
            <a:pPr lvl="1"/>
            <a:r>
              <a:rPr lang="en-US" sz="1800" dirty="0">
                <a:latin typeface="TW Cen MT"/>
                <a:sym typeface="Wingdings" panose="05000000000000000000" pitchFamily="2" charset="2"/>
              </a:rPr>
              <a:t>Output</a:t>
            </a:r>
            <a:r>
              <a:rPr lang="en-US" sz="1800" dirty="0">
                <a:latin typeface="TW Cen MT"/>
              </a:rPr>
              <a:t>:</a:t>
            </a:r>
            <a:r>
              <a:rPr lang="en-US" sz="1800" dirty="0"/>
              <a:t> 5</a:t>
            </a:r>
          </a:p>
          <a:p>
            <a:pPr marL="457200" lvl="1" indent="0">
              <a:buNone/>
            </a:pPr>
            <a:r>
              <a:rPr lang="en-US" sz="1800" dirty="0"/>
              <a:t>tup</a:t>
            </a:r>
            <a:r>
              <a:rPr lang="en-US" sz="1800" dirty="0">
                <a:solidFill>
                  <a:srgbClr val="C00000"/>
                </a:solidFill>
              </a:rPr>
              <a:t>[</a:t>
            </a:r>
            <a:r>
              <a:rPr lang="en-US" sz="1800" dirty="0"/>
              <a:t>1</a:t>
            </a:r>
            <a:r>
              <a:rPr lang="en-US" sz="1800" dirty="0">
                <a:solidFill>
                  <a:srgbClr val="C00000"/>
                </a:solidFill>
              </a:rPr>
              <a:t>]</a:t>
            </a:r>
            <a:r>
              <a:rPr lang="en-US" sz="1800" dirty="0"/>
              <a:t> </a:t>
            </a:r>
          </a:p>
          <a:p>
            <a:pPr lvl="1"/>
            <a:r>
              <a:rPr lang="en-US" sz="1800" dirty="0">
                <a:latin typeface="TW Cen MT"/>
                <a:sym typeface="Wingdings" panose="05000000000000000000" pitchFamily="2" charset="2"/>
              </a:rPr>
              <a:t>Output:</a:t>
            </a:r>
            <a:r>
              <a:rPr lang="en-US" sz="1800" dirty="0">
                <a:sym typeface="Wingdings" panose="05000000000000000000" pitchFamily="2" charset="2"/>
              </a:rPr>
              <a:t> 6</a:t>
            </a:r>
          </a:p>
          <a:p>
            <a:pPr marL="457200" lvl="1" indent="0">
              <a:buNone/>
            </a:pPr>
            <a:r>
              <a:rPr lang="en-US" sz="1800" dirty="0"/>
              <a:t>tup</a:t>
            </a:r>
            <a:r>
              <a:rPr lang="en-US" sz="1800" dirty="0">
                <a:solidFill>
                  <a:srgbClr val="C00000"/>
                </a:solidFill>
              </a:rPr>
              <a:t>[</a:t>
            </a:r>
            <a:r>
              <a:rPr lang="en-US" sz="1800" dirty="0"/>
              <a:t>2</a:t>
            </a:r>
            <a:r>
              <a:rPr lang="en-US" sz="1800" dirty="0">
                <a:solidFill>
                  <a:srgbClr val="C00000"/>
                </a:solidFill>
              </a:rPr>
              <a:t>] </a:t>
            </a:r>
          </a:p>
          <a:p>
            <a:pPr lvl="1"/>
            <a:r>
              <a:rPr lang="en-US" sz="1800" dirty="0">
                <a:latin typeface="TW Cen MT"/>
                <a:sym typeface="Wingdings" panose="05000000000000000000" pitchFamily="2" charset="2"/>
              </a:rPr>
              <a:t>Output: </a:t>
            </a:r>
            <a:r>
              <a:rPr lang="en-US" sz="1800" dirty="0">
                <a:sym typeface="Wingdings" panose="05000000000000000000" pitchFamily="2" charset="2"/>
              </a:rPr>
              <a:t>7</a:t>
            </a:r>
            <a:endParaRPr lang="en-US" sz="1800" dirty="0"/>
          </a:p>
          <a:p>
            <a:endParaRPr lang="en-US" sz="2000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11F744-F947-D34E-8DA2-6D74081464BD}"/>
              </a:ext>
            </a:extLst>
          </p:cNvPr>
          <p:cNvSpPr txBox="1">
            <a:spLocks/>
          </p:cNvSpPr>
          <p:nvPr/>
        </p:nvSpPr>
        <p:spPr>
          <a:xfrm>
            <a:off x="5856100" y="1875403"/>
            <a:ext cx="5191311" cy="5579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MUTABLE TUPLE ELEMENTS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3E7CA78-B427-2B04-28DD-CC2B7767B6F7}"/>
              </a:ext>
            </a:extLst>
          </p:cNvPr>
          <p:cNvSpPr txBox="1">
            <a:spLocks/>
          </p:cNvSpPr>
          <p:nvPr/>
        </p:nvSpPr>
        <p:spPr>
          <a:xfrm>
            <a:off x="6095999" y="2616460"/>
            <a:ext cx="4665785" cy="326863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1800" dirty="0"/>
              <a:t>Mutable tuple elements (a list) can be modified</a:t>
            </a:r>
          </a:p>
          <a:p>
            <a:pPr marL="342900" indent="-342900"/>
            <a:r>
              <a:rPr lang="en-US" sz="1800" dirty="0"/>
              <a:t>Example:</a:t>
            </a:r>
          </a:p>
          <a:p>
            <a:pPr marL="0" indent="0">
              <a:buNone/>
            </a:pPr>
            <a:r>
              <a:rPr lang="en-US" sz="1800" dirty="0"/>
              <a:t>    tup = </a:t>
            </a:r>
            <a:r>
              <a:rPr lang="en-US" sz="1800" dirty="0">
                <a:solidFill>
                  <a:schemeClr val="bg2"/>
                </a:solidFill>
              </a:rPr>
              <a:t>tuple</a:t>
            </a:r>
            <a:r>
              <a:rPr lang="en-US" sz="1800" dirty="0"/>
              <a:t>([‘foo’,</a:t>
            </a:r>
            <a:r>
              <a:rPr lang="en-US" sz="1800" dirty="0">
                <a:solidFill>
                  <a:schemeClr val="tx2">
                    <a:lumMod val="76000"/>
                  </a:schemeClr>
                </a:solidFill>
              </a:rPr>
              <a:t> [1,5]</a:t>
            </a:r>
            <a:r>
              <a:rPr lang="en-US" sz="1800" dirty="0"/>
              <a:t>, </a:t>
            </a:r>
            <a:r>
              <a:rPr lang="en-US" sz="1800" dirty="0">
                <a:latin typeface="TW Cen MT"/>
              </a:rPr>
              <a:t>True</a:t>
            </a:r>
            <a:r>
              <a:rPr lang="en-US" sz="1800" dirty="0"/>
              <a:t>])</a:t>
            </a:r>
          </a:p>
          <a:p>
            <a:pPr marL="0" indent="0">
              <a:buNone/>
            </a:pPr>
            <a:r>
              <a:rPr lang="en-US" sz="1800" dirty="0"/>
              <a:t>    tup[1].append(7)</a:t>
            </a:r>
          </a:p>
          <a:p>
            <a:pPr marL="285750" indent="-285750"/>
            <a:r>
              <a:rPr lang="en-US" sz="1800" dirty="0"/>
              <a:t>Output: 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    </a:t>
            </a:r>
            <a:r>
              <a:rPr lang="en-US" sz="1800" dirty="0"/>
              <a:t>(‘foo’, </a:t>
            </a:r>
            <a:r>
              <a:rPr lang="en-US" sz="1800" dirty="0">
                <a:solidFill>
                  <a:schemeClr val="tx2">
                    <a:lumMod val="76000"/>
                  </a:schemeClr>
                </a:solidFill>
              </a:rPr>
              <a:t>[1,5, 7]</a:t>
            </a:r>
            <a:r>
              <a:rPr lang="en-US" sz="1800" dirty="0"/>
              <a:t>, </a:t>
            </a:r>
            <a:r>
              <a:rPr lang="en-US" sz="1800" dirty="0">
                <a:latin typeface="TW Cen MT"/>
              </a:rPr>
              <a:t>True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E2948-B9FC-767E-8FD2-763756A38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330" y="-8034"/>
            <a:ext cx="888501" cy="83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28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921E-EC87-3861-32D6-1C146BF8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73758"/>
          </a:xfrm>
        </p:spPr>
        <p:txBody>
          <a:bodyPr/>
          <a:lstStyle/>
          <a:p>
            <a:pPr algn="ctr"/>
            <a:r>
              <a:rPr lang="en-US" dirty="0"/>
              <a:t>TUPLES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E10CDC-6436-BBE8-B18E-227332CA84BC}"/>
              </a:ext>
            </a:extLst>
          </p:cNvPr>
          <p:cNvSpPr txBox="1">
            <a:spLocks/>
          </p:cNvSpPr>
          <p:nvPr/>
        </p:nvSpPr>
        <p:spPr>
          <a:xfrm>
            <a:off x="1256759" y="1875403"/>
            <a:ext cx="4502662" cy="74105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dirty="0"/>
              <a:t>CONCATENATE TUPLES WITH  </a:t>
            </a:r>
            <a:r>
              <a:rPr lang="en-US" sz="2200" b="1" dirty="0">
                <a:solidFill>
                  <a:srgbClr val="C00000"/>
                </a:solidFill>
              </a:rPr>
              <a:t>+</a:t>
            </a:r>
            <a:r>
              <a:rPr lang="en-US" sz="2200" b="1" dirty="0"/>
              <a:t> </a:t>
            </a:r>
            <a:r>
              <a:rPr lang="en-US" sz="2200" dirty="0"/>
              <a:t>OPERATOR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6B4726-B887-AE65-79C3-09810318F35C}"/>
              </a:ext>
            </a:extLst>
          </p:cNvPr>
          <p:cNvSpPr txBox="1">
            <a:spLocks/>
          </p:cNvSpPr>
          <p:nvPr/>
        </p:nvSpPr>
        <p:spPr>
          <a:xfrm>
            <a:off x="1257445" y="2736958"/>
            <a:ext cx="4969756" cy="349056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000" dirty="0"/>
              <a:t>Example: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(4, None, ‘foo’) </a:t>
            </a:r>
            <a:r>
              <a:rPr lang="en-US" dirty="0">
                <a:solidFill>
                  <a:srgbClr val="C00000"/>
                </a:solidFill>
              </a:rPr>
              <a:t>+</a:t>
            </a:r>
            <a:r>
              <a:rPr lang="en-US" dirty="0"/>
              <a:t> (‘friend’) </a:t>
            </a:r>
            <a:r>
              <a:rPr lang="en-US" dirty="0">
                <a:solidFill>
                  <a:srgbClr val="C00000"/>
                </a:solidFill>
              </a:rPr>
              <a:t>+</a:t>
            </a:r>
            <a:r>
              <a:rPr lang="en-US" dirty="0"/>
              <a:t> (2, 6, 1)</a:t>
            </a:r>
          </a:p>
          <a:p>
            <a:r>
              <a:rPr lang="en-US" sz="2000" dirty="0"/>
              <a:t>Output: 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(4, None, ‘foo’, ‘friend’, 2, 6, 1)</a:t>
            </a:r>
          </a:p>
          <a:p>
            <a:endParaRPr lang="en-US" sz="2000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11F744-F947-D34E-8DA2-6D74081464BD}"/>
              </a:ext>
            </a:extLst>
          </p:cNvPr>
          <p:cNvSpPr txBox="1">
            <a:spLocks/>
          </p:cNvSpPr>
          <p:nvPr/>
        </p:nvSpPr>
        <p:spPr>
          <a:xfrm>
            <a:off x="5856100" y="1875403"/>
            <a:ext cx="5191311" cy="5579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3E7CA78-B427-2B04-28DD-CC2B7767B6F7}"/>
              </a:ext>
            </a:extLst>
          </p:cNvPr>
          <p:cNvSpPr txBox="1">
            <a:spLocks/>
          </p:cNvSpPr>
          <p:nvPr/>
        </p:nvSpPr>
        <p:spPr>
          <a:xfrm>
            <a:off x="6722301" y="2738866"/>
            <a:ext cx="4958058" cy="2951216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objects are </a:t>
            </a:r>
            <a:r>
              <a:rPr lang="en-US" dirty="0"/>
              <a:t>referenced and are </a:t>
            </a:r>
            <a:r>
              <a:rPr lang="en-US" sz="2400" dirty="0"/>
              <a:t>not copied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  </a:t>
            </a:r>
            <a:r>
              <a:rPr lang="en-US" sz="2000" dirty="0"/>
              <a:t>(None, ‘foo’) * 3</a:t>
            </a:r>
          </a:p>
          <a:p>
            <a:r>
              <a:rPr lang="en-US" dirty="0"/>
              <a:t>Output:</a:t>
            </a:r>
          </a:p>
          <a:p>
            <a:pPr marL="457200" lvl="1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</a:t>
            </a:r>
            <a:r>
              <a:rPr lang="en-US" sz="2000" dirty="0"/>
              <a:t> (None, ‘foo’, None, ‘foo’, None, ‘foo’) </a:t>
            </a:r>
            <a:endParaRPr lang="en-US" dirty="0"/>
          </a:p>
          <a:p>
            <a:pPr marL="457200" lvl="1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6891B9-CFD1-FE74-F4A4-9B0C5F4F2B5B}"/>
              </a:ext>
            </a:extLst>
          </p:cNvPr>
          <p:cNvSpPr txBox="1"/>
          <p:nvPr/>
        </p:nvSpPr>
        <p:spPr>
          <a:xfrm>
            <a:off x="6726104" y="2002133"/>
            <a:ext cx="45336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200" dirty="0"/>
              <a:t>MUTIPLY TUPLES WITH INTEGERS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2F5BDF-B2FF-683C-579B-26B9FE634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9014" y="-8034"/>
            <a:ext cx="898940" cy="80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563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10282"/>
          </a:xfrm>
        </p:spPr>
        <p:txBody>
          <a:bodyPr/>
          <a:lstStyle/>
          <a:p>
            <a:pPr algn="ctr"/>
            <a:r>
              <a:rPr lang="en-US" dirty="0"/>
              <a:t>Unpacking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828800"/>
            <a:ext cx="5213670" cy="42153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Unpack values in the tuple by assigning to a tuple-like expressions of the variables.</a:t>
            </a:r>
            <a:endParaRPr lang="en-US" sz="2400"/>
          </a:p>
          <a:p>
            <a:r>
              <a:rPr lang="en-US" dirty="0"/>
              <a:t>Example: </a:t>
            </a:r>
          </a:p>
          <a:p>
            <a:pPr marL="914400" lvl="2">
              <a:buNone/>
            </a:pPr>
            <a:r>
              <a:rPr lang="en-US" sz="2000" dirty="0"/>
              <a:t>tup = (2, 5, 6)</a:t>
            </a:r>
          </a:p>
          <a:p>
            <a:pPr marL="457200" lvl="1" indent="0">
              <a:buNone/>
            </a:pPr>
            <a:r>
              <a:rPr lang="en-US" dirty="0"/>
              <a:t> </a:t>
            </a:r>
            <a:r>
              <a:rPr lang="en-US" sz="2000" dirty="0"/>
              <a:t>a, b, c = tup</a:t>
            </a:r>
          </a:p>
          <a:p>
            <a:pPr marL="457200" lvl="1" indent="0">
              <a:buNone/>
            </a:pPr>
            <a:r>
              <a:rPr lang="en-US"/>
              <a:t> </a:t>
            </a:r>
            <a:r>
              <a:rPr lang="en-US" sz="2000" dirty="0"/>
              <a:t>b</a:t>
            </a:r>
          </a:p>
          <a:p>
            <a:pPr lvl="1"/>
            <a:r>
              <a:rPr lang="en-US" sz="2000" dirty="0"/>
              <a:t>Output: 5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CC66E-255E-8999-4618-8164A7128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0" y="1828800"/>
            <a:ext cx="4555171" cy="42153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Unpack sequences with nested tuples</a:t>
            </a:r>
          </a:p>
          <a:p>
            <a:r>
              <a:rPr lang="en-US"/>
              <a:t>Example:</a:t>
            </a:r>
          </a:p>
          <a:p>
            <a:pPr marL="914400" lvl="2">
              <a:buNone/>
            </a:pPr>
            <a:r>
              <a:rPr lang="en-US" sz="2000" dirty="0"/>
              <a:t>tup = 4, (5, 2), 8</a:t>
            </a:r>
          </a:p>
          <a:p>
            <a:pPr marL="457200" lvl="1" indent="0">
              <a:buNone/>
            </a:pPr>
            <a:r>
              <a:rPr lang="en-US"/>
              <a:t> </a:t>
            </a:r>
            <a:r>
              <a:rPr lang="en-US" sz="2000" dirty="0"/>
              <a:t>a, (b, c), d =  tup</a:t>
            </a:r>
          </a:p>
          <a:p>
            <a:pPr marL="457200" lvl="1" indent="0">
              <a:buNone/>
            </a:pPr>
            <a:r>
              <a:rPr lang="en-US"/>
              <a:t> </a:t>
            </a:r>
            <a:r>
              <a:rPr lang="en-US" sz="2000" dirty="0"/>
              <a:t>b</a:t>
            </a:r>
          </a:p>
          <a:p>
            <a:pPr lvl="1"/>
            <a:r>
              <a:rPr lang="en-US" sz="2000" dirty="0"/>
              <a:t>Output: 5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624" y="-8034"/>
            <a:ext cx="888502" cy="85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826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10282"/>
          </a:xfrm>
        </p:spPr>
        <p:txBody>
          <a:bodyPr/>
          <a:lstStyle/>
          <a:p>
            <a:pPr algn="ctr"/>
            <a:r>
              <a:rPr lang="en-US" dirty="0"/>
              <a:t>Unpacking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989144"/>
            <a:ext cx="5213670" cy="40550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Other languages values swapping:</a:t>
            </a:r>
          </a:p>
          <a:p>
            <a:pPr marL="0" indent="0">
              <a:buNone/>
            </a:pPr>
            <a:r>
              <a:rPr lang="en-US" dirty="0"/>
              <a:t> temp = a</a:t>
            </a:r>
          </a:p>
          <a:p>
            <a:pPr marL="0" indent="0">
              <a:buNone/>
            </a:pPr>
            <a:r>
              <a:rPr lang="en-US" dirty="0"/>
              <a:t> a = b </a:t>
            </a:r>
          </a:p>
          <a:p>
            <a:pPr marL="0" indent="0">
              <a:buNone/>
            </a:pPr>
            <a:r>
              <a:rPr lang="en-US" dirty="0"/>
              <a:t> b = temp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CC66E-255E-8999-4618-8164A7128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0" y="1989144"/>
            <a:ext cx="4555171" cy="4055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Python's</a:t>
            </a:r>
            <a:r>
              <a:rPr lang="en-US" sz="2400" dirty="0"/>
              <a:t> </a:t>
            </a:r>
            <a:r>
              <a:rPr lang="en-US" dirty="0"/>
              <a:t>value swapping:</a:t>
            </a:r>
            <a:r>
              <a:rPr lang="en-US" sz="2400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 a, b = 1, 2</a:t>
            </a:r>
          </a:p>
          <a:p>
            <a:pPr marL="0" indent="0">
              <a:buNone/>
            </a:pPr>
            <a:r>
              <a:rPr lang="en-US" dirty="0"/>
              <a:t> b, a = a, b</a:t>
            </a:r>
          </a:p>
          <a:p>
            <a:pPr marL="0" indent="0">
              <a:buNone/>
            </a:pPr>
            <a:r>
              <a:rPr lang="en-US"/>
              <a:t> </a:t>
            </a:r>
            <a:r>
              <a:rPr lang="en-US" dirty="0"/>
              <a:t>b</a:t>
            </a:r>
          </a:p>
          <a:p>
            <a:pPr lvl="1"/>
            <a:r>
              <a:rPr lang="en-US" sz="2400" dirty="0"/>
              <a:t>Output: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2063" y="-8034"/>
            <a:ext cx="878063" cy="83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82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D9A1-5160-0457-CA02-07BC1382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65146"/>
          </a:xfrm>
        </p:spPr>
        <p:txBody>
          <a:bodyPr/>
          <a:lstStyle/>
          <a:p>
            <a:pPr algn="ctr"/>
            <a:r>
              <a:rPr lang="en-US" dirty="0"/>
              <a:t>Tuple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5FD6-D68C-6291-B312-70DC1097A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62165"/>
            <a:ext cx="9905999" cy="35290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count()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en-US" dirty="0"/>
              <a:t>- tuple methos that </a:t>
            </a:r>
            <a:r>
              <a:rPr lang="en-US" sz="2400" dirty="0"/>
              <a:t>counts the number of occurrences of a value.</a:t>
            </a:r>
          </a:p>
          <a:p>
            <a:r>
              <a:rPr lang="en-US"/>
              <a:t>Example:</a:t>
            </a:r>
          </a:p>
          <a:p>
            <a:pPr marL="457200" lvl="1" indent="0">
              <a:buNone/>
            </a:pPr>
            <a:r>
              <a:rPr lang="en-US"/>
              <a:t>a</a:t>
            </a:r>
            <a:r>
              <a:rPr lang="en-US" sz="2000" dirty="0"/>
              <a:t> = (1, 2, 4, 5, 3, 2, 4, 5, 2, 5, 5)</a:t>
            </a:r>
            <a:endParaRPr lang="en-US"/>
          </a:p>
          <a:p>
            <a:pPr marL="457200" lvl="1" indent="0">
              <a:buNone/>
            </a:pPr>
            <a:r>
              <a:rPr lang="en-US" sz="2000" err="1"/>
              <a:t>a.</a:t>
            </a:r>
            <a:r>
              <a:rPr lang="en-US" sz="2000" err="1">
                <a:solidFill>
                  <a:schemeClr val="bg2"/>
                </a:solidFill>
              </a:rPr>
              <a:t>count</a:t>
            </a:r>
            <a:r>
              <a:rPr lang="en-US" sz="2000" dirty="0"/>
              <a:t>(5)</a:t>
            </a:r>
          </a:p>
          <a:p>
            <a:r>
              <a:rPr lang="en-US" dirty="0"/>
              <a:t>Output: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1B868-1DE5-0961-5576-60D43676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2063" y="-8034"/>
            <a:ext cx="878063" cy="83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61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7"/>
            <a:ext cx="9906000" cy="1191386"/>
          </a:xfrm>
        </p:spPr>
        <p:txBody>
          <a:bodyPr/>
          <a:lstStyle/>
          <a:p>
            <a:pPr algn="ctr"/>
            <a:r>
              <a:rPr lang="en-US" sz="4000" dirty="0"/>
              <a:t>Dictionary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3C32-3637-4A6D-BDDF-6FD34EE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1929383"/>
            <a:ext cx="5030791" cy="539497"/>
          </a:xfrm>
        </p:spPr>
        <p:txBody>
          <a:bodyPr>
            <a:noAutofit/>
          </a:bodyPr>
          <a:lstStyle/>
          <a:p>
            <a:r>
              <a:rPr lang="en-US" sz="2800" dirty="0"/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5049" y="2500447"/>
            <a:ext cx="5034018" cy="372916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bg2"/>
                </a:solidFill>
              </a:rPr>
              <a:t>dict</a:t>
            </a:r>
            <a:r>
              <a:rPr lang="en-US" dirty="0"/>
              <a:t> </a:t>
            </a:r>
          </a:p>
          <a:p>
            <a:pPr marL="114300" indent="-342900"/>
            <a:r>
              <a:rPr lang="en-US" dirty="0"/>
              <a:t>one of the most important Python built-in data structures.</a:t>
            </a:r>
          </a:p>
          <a:p>
            <a:pPr marL="342900" indent="-342900"/>
            <a:r>
              <a:rPr lang="en-US" b="1" i="1" dirty="0"/>
              <a:t>hash map</a:t>
            </a:r>
            <a:r>
              <a:rPr lang="en-US" i="1" dirty="0"/>
              <a:t> </a:t>
            </a:r>
            <a:r>
              <a:rPr lang="en-US" dirty="0"/>
              <a:t>or</a:t>
            </a:r>
            <a:r>
              <a:rPr lang="en-US" i="1" dirty="0"/>
              <a:t> </a:t>
            </a:r>
            <a:r>
              <a:rPr lang="en-US" b="1" i="1" dirty="0"/>
              <a:t>associative array</a:t>
            </a:r>
            <a:endParaRPr lang="en-US" dirty="0"/>
          </a:p>
          <a:p>
            <a:r>
              <a:rPr lang="en-US" dirty="0"/>
              <a:t>collection of </a:t>
            </a:r>
            <a:r>
              <a:rPr lang="en-US" dirty="0">
                <a:solidFill>
                  <a:srgbClr val="C00000"/>
                </a:solidFill>
              </a:rPr>
              <a:t>key-value pairs</a:t>
            </a:r>
          </a:p>
          <a:p>
            <a:r>
              <a:rPr lang="en-US" dirty="0"/>
              <a:t>flexible in size</a:t>
            </a:r>
          </a:p>
          <a:p>
            <a:r>
              <a:rPr lang="en-US" dirty="0"/>
              <a:t>Keys and values are Python objects.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30F25-2E69-A603-FB04-7EFEE6E23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0400" y="1810513"/>
            <a:ext cx="4037010" cy="658367"/>
          </a:xfrm>
        </p:spPr>
        <p:txBody>
          <a:bodyPr>
            <a:normAutofit/>
          </a:bodyPr>
          <a:lstStyle/>
          <a:p>
            <a:r>
              <a:rPr lang="en-US" sz="3200" dirty="0"/>
              <a:t>Defining a </a:t>
            </a:r>
            <a:r>
              <a:rPr lang="en-US" sz="3200" dirty="0" err="1"/>
              <a:t>dict</a:t>
            </a:r>
            <a:endParaRPr lang="en-US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5291" y="2688337"/>
            <a:ext cx="5309912" cy="31028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342900"/>
            <a:r>
              <a:rPr lang="en-US" sz="2400" dirty="0"/>
              <a:t>create a </a:t>
            </a:r>
            <a:r>
              <a:rPr lang="en-US" sz="2400" dirty="0" err="1"/>
              <a:t>dict</a:t>
            </a:r>
            <a:r>
              <a:rPr lang="en-US" sz="2400" dirty="0"/>
              <a:t> by using curly braces </a:t>
            </a:r>
            <a:r>
              <a:rPr lang="en-US" sz="2400" b="1" dirty="0">
                <a:solidFill>
                  <a:srgbClr val="C00000"/>
                </a:solidFill>
              </a:rPr>
              <a:t>{ }</a:t>
            </a:r>
            <a:r>
              <a:rPr lang="en-US" sz="2400" dirty="0"/>
              <a:t> </a:t>
            </a:r>
            <a:endParaRPr lang="en-US"/>
          </a:p>
          <a:p>
            <a:pPr marL="342900" indent="-342900"/>
            <a:r>
              <a:rPr lang="en-US" dirty="0">
                <a:solidFill>
                  <a:srgbClr val="FFFFFF"/>
                </a:solidFill>
              </a:rPr>
              <a:t>'</a:t>
            </a:r>
            <a:r>
              <a:rPr lang="en-US" b="1" dirty="0">
                <a:solidFill>
                  <a:srgbClr val="C00000"/>
                </a:solidFill>
              </a:rPr>
              <a:t> :</a:t>
            </a:r>
            <a:r>
              <a:rPr lang="en-US" sz="2400" dirty="0"/>
              <a:t> </a:t>
            </a:r>
            <a:r>
              <a:rPr lang="en-US" dirty="0"/>
              <a:t>' separate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keys</a:t>
            </a:r>
            <a:r>
              <a:rPr lang="en-US" sz="2400" dirty="0"/>
              <a:t> from </a:t>
            </a:r>
            <a:r>
              <a:rPr lang="en-US" sz="2400" dirty="0">
                <a:solidFill>
                  <a:srgbClr val="C00000"/>
                </a:solidFill>
              </a:rPr>
              <a:t>values</a:t>
            </a:r>
            <a:endParaRPr lang="en-US" dirty="0">
              <a:solidFill>
                <a:srgbClr val="C00000"/>
              </a:solidFill>
            </a:endParaRPr>
          </a:p>
          <a:p>
            <a:pPr marL="342900" indent="-342900"/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sz="2000" err="1"/>
              <a:t>empty_dict</a:t>
            </a:r>
            <a:r>
              <a:rPr lang="en-US" sz="2000" dirty="0"/>
              <a:t> = </a:t>
            </a:r>
            <a:r>
              <a:rPr lang="en-US" sz="2000" dirty="0">
                <a:solidFill>
                  <a:srgbClr val="C00000"/>
                </a:solidFill>
              </a:rPr>
              <a:t>{ }</a:t>
            </a:r>
          </a:p>
          <a:p>
            <a:pPr marL="457200" lvl="1" indent="0">
              <a:buNone/>
            </a:pPr>
            <a:r>
              <a:rPr lang="en-US" sz="2000" dirty="0"/>
              <a:t>d1 = </a:t>
            </a:r>
            <a:r>
              <a:rPr lang="en-US" sz="2000" dirty="0">
                <a:solidFill>
                  <a:srgbClr val="C00000"/>
                </a:solidFill>
              </a:rPr>
              <a:t>{</a:t>
            </a:r>
            <a:r>
              <a:rPr lang="en-US" sz="2000" dirty="0"/>
              <a:t>‘a’</a:t>
            </a:r>
            <a:r>
              <a:rPr lang="en-US" sz="2000" dirty="0">
                <a:solidFill>
                  <a:srgbClr val="C00000"/>
                </a:solidFill>
              </a:rPr>
              <a:t>: </a:t>
            </a:r>
            <a:r>
              <a:rPr lang="en-US" sz="2000" dirty="0"/>
              <a:t>‘hello world’, ‘b’</a:t>
            </a:r>
            <a:r>
              <a:rPr lang="en-US" sz="2000" dirty="0">
                <a:solidFill>
                  <a:srgbClr val="C00000"/>
                </a:solidFill>
              </a:rPr>
              <a:t>:</a:t>
            </a:r>
            <a:r>
              <a:rPr lang="en-US" sz="2000" dirty="0"/>
              <a:t> [1, 2, 3, 4]</a:t>
            </a:r>
            <a:r>
              <a:rPr lang="en-US" sz="2000" dirty="0">
                <a:solidFill>
                  <a:srgbClr val="C00000"/>
                </a:solidFill>
              </a:rPr>
              <a:t>}</a:t>
            </a:r>
          </a:p>
          <a:p>
            <a:pPr marL="457200" lvl="1" indent="0">
              <a:buNone/>
            </a:pPr>
            <a:r>
              <a:rPr lang="en-US" sz="2000" dirty="0"/>
              <a:t>d1</a:t>
            </a:r>
          </a:p>
          <a:p>
            <a:r>
              <a:rPr lang="en-US" dirty="0"/>
              <a:t>Output:</a:t>
            </a:r>
            <a:r>
              <a:rPr lang="en-US" dirty="0">
                <a:solidFill>
                  <a:srgbClr val="C00000"/>
                </a:solidFill>
              </a:rPr>
              <a:t> {</a:t>
            </a:r>
            <a:r>
              <a:rPr lang="en-US" dirty="0"/>
              <a:t>‘a’</a:t>
            </a:r>
            <a:r>
              <a:rPr lang="en-US" dirty="0">
                <a:solidFill>
                  <a:srgbClr val="C00000"/>
                </a:solidFill>
              </a:rPr>
              <a:t>:</a:t>
            </a:r>
            <a:r>
              <a:rPr lang="en-US" dirty="0"/>
              <a:t> ‘hello world’, ‘b’</a:t>
            </a:r>
            <a:r>
              <a:rPr lang="en-US" dirty="0">
                <a:solidFill>
                  <a:srgbClr val="C00000"/>
                </a:solidFill>
              </a:rPr>
              <a:t>:</a:t>
            </a:r>
            <a:r>
              <a:rPr lang="en-US" dirty="0"/>
              <a:t> [1, 2, 3, 4]</a:t>
            </a:r>
            <a:r>
              <a:rPr lang="en-US" dirty="0">
                <a:solidFill>
                  <a:srgbClr val="C00000"/>
                </a:solidFill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2501" y="-8034"/>
            <a:ext cx="867625" cy="83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82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7"/>
            <a:ext cx="9906000" cy="1191386"/>
          </a:xfrm>
        </p:spPr>
        <p:txBody>
          <a:bodyPr/>
          <a:lstStyle/>
          <a:p>
            <a:pPr algn="ctr"/>
            <a:r>
              <a:rPr lang="en-US" sz="4000" dirty="0"/>
              <a:t>Dictionary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3C32-3637-4A6D-BDDF-6FD34EE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1929383"/>
            <a:ext cx="5030791" cy="539497"/>
          </a:xfrm>
        </p:spPr>
        <p:txBody>
          <a:bodyPr>
            <a:noAutofit/>
          </a:bodyPr>
          <a:lstStyle/>
          <a:p>
            <a:r>
              <a:rPr lang="en-US" sz="2800" dirty="0"/>
              <a:t>Access, insert, assign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9825" y="2688337"/>
            <a:ext cx="5698259" cy="3770915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sz="2400" dirty="0"/>
              <a:t>Access, insert, or assign elements using the same syntax as in list or tuple: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 d1= {‘a’: ‘hello world’, ‘b’: [1, 2, 5, 6]}</a:t>
            </a:r>
          </a:p>
          <a:p>
            <a:pPr marL="0" indent="0">
              <a:buNone/>
            </a:pPr>
            <a:r>
              <a:rPr lang="en-US" dirty="0"/>
              <a:t> d1[3] = ‘a value’</a:t>
            </a:r>
          </a:p>
          <a:p>
            <a:pPr marL="0" indent="0">
              <a:buNone/>
            </a:pPr>
            <a:r>
              <a:rPr lang="en-US" dirty="0"/>
              <a:t> d1</a:t>
            </a:r>
          </a:p>
          <a:p>
            <a:pPr lvl="1"/>
            <a:r>
              <a:rPr lang="en-US" dirty="0"/>
              <a:t>Output: {‘a’: ‘hello world’, ‘b’: [1, 2, 5, 6], 3: ‘a value’}</a:t>
            </a:r>
          </a:p>
          <a:p>
            <a:r>
              <a:rPr lang="en-US" dirty="0"/>
              <a:t>d1[‘b’]</a:t>
            </a:r>
          </a:p>
          <a:p>
            <a:pPr lvl="1"/>
            <a:r>
              <a:rPr lang="en-US" sz="2000" dirty="0"/>
              <a:t>Output: [1, 2, 5, 6]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30F25-2E69-A603-FB04-7EFEE6E23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64519" y="1929383"/>
            <a:ext cx="3982891" cy="539497"/>
          </a:xfrm>
        </p:spPr>
        <p:txBody>
          <a:bodyPr>
            <a:normAutofit/>
          </a:bodyPr>
          <a:lstStyle/>
          <a:p>
            <a:r>
              <a:rPr lang="en-US" sz="3200" dirty="0"/>
              <a:t>Checking for  keys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48523" y="2688337"/>
            <a:ext cx="4391337" cy="3102862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sz="2400" dirty="0"/>
              <a:t>check if a </a:t>
            </a:r>
            <a:r>
              <a:rPr lang="en-US" sz="2400" dirty="0" err="1"/>
              <a:t>dict</a:t>
            </a:r>
            <a:r>
              <a:rPr lang="en-US" sz="2400" dirty="0"/>
              <a:t> contains a key using the same syntax as in list or tuple:</a:t>
            </a:r>
          </a:p>
          <a:p>
            <a:pPr marL="0" indent="0">
              <a:buNone/>
            </a:pPr>
            <a:r>
              <a:rPr lang="en-US" dirty="0"/>
              <a:t>      ‘a’ </a:t>
            </a:r>
            <a:r>
              <a:rPr lang="en-US" b="1" dirty="0">
                <a:solidFill>
                  <a:schemeClr val="bg2"/>
                </a:solidFill>
              </a:rPr>
              <a:t>in</a:t>
            </a:r>
            <a:r>
              <a:rPr lang="en-US" dirty="0"/>
              <a:t> d1</a:t>
            </a:r>
          </a:p>
          <a:p>
            <a:r>
              <a:rPr lang="en-US" dirty="0"/>
              <a:t>Output: True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432" y="-8034"/>
            <a:ext cx="940694" cy="83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3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7"/>
            <a:ext cx="9906000" cy="1191386"/>
          </a:xfrm>
        </p:spPr>
        <p:txBody>
          <a:bodyPr/>
          <a:lstStyle/>
          <a:p>
            <a:pPr algn="ctr"/>
            <a:r>
              <a:rPr lang="en-US" sz="4000" dirty="0"/>
              <a:t>Dictionary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3C32-3637-4A6D-BDDF-6FD34EE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1570893"/>
            <a:ext cx="5030791" cy="644769"/>
          </a:xfrm>
        </p:spPr>
        <p:txBody>
          <a:bodyPr>
            <a:noAutofit/>
          </a:bodyPr>
          <a:lstStyle/>
          <a:p>
            <a:r>
              <a:rPr lang="en-US" sz="2800" dirty="0"/>
              <a:t>Delete values: 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2189" y="2215662"/>
            <a:ext cx="10103687" cy="40232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del</a:t>
            </a:r>
            <a:r>
              <a:rPr lang="en-US" sz="2400" b="1" dirty="0"/>
              <a:t> </a:t>
            </a:r>
            <a:r>
              <a:rPr lang="en-US" sz="2400" dirty="0"/>
              <a:t>keyword</a:t>
            </a:r>
            <a:r>
              <a:rPr lang="en-US" dirty="0"/>
              <a:t> deletes values</a:t>
            </a:r>
            <a:endParaRPr lang="en-US" sz="2400" dirty="0"/>
          </a:p>
          <a:p>
            <a:pPr marL="457200" lvl="1" indent="0">
              <a:buNone/>
            </a:pPr>
            <a:r>
              <a:rPr lang="en-US" dirty="0"/>
              <a:t>d</a:t>
            </a:r>
            <a:r>
              <a:rPr lang="en-US" sz="2000" dirty="0"/>
              <a:t>1= {‘a’: ‘hello world’, ‘b’: [1, 2, 5, 6], 3: ‘a value’}</a:t>
            </a:r>
          </a:p>
          <a:p>
            <a:pPr marL="457200" lvl="1" indent="0">
              <a:buNone/>
            </a:pPr>
            <a:r>
              <a:rPr lang="en-US" sz="2000" dirty="0"/>
              <a:t>d1[4] = ‘another value’</a:t>
            </a:r>
          </a:p>
          <a:p>
            <a:pPr marL="457200" lvl="1" indent="0">
              <a:buNone/>
            </a:pPr>
            <a:r>
              <a:rPr lang="en-US" dirty="0"/>
              <a:t>d</a:t>
            </a:r>
            <a:r>
              <a:rPr lang="en-US" sz="2000" dirty="0"/>
              <a:t>1[‘type’] = ‘a string’</a:t>
            </a:r>
          </a:p>
          <a:p>
            <a:pPr lvl="1"/>
            <a:r>
              <a:rPr lang="en-US" sz="2000" dirty="0"/>
              <a:t>Output: </a:t>
            </a:r>
          </a:p>
          <a:p>
            <a:pPr marL="457200" lvl="1" indent="0">
              <a:buNone/>
            </a:pPr>
            <a:r>
              <a:rPr lang="en-US" sz="2000" dirty="0"/>
              <a:t>	{‘a’: ‘hello world’, ‘b’: [1, 2, 5, 6], 3: ‘a value’, 4: ‘another value’, ‘type’:  ‘string’}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chemeClr val="bg2"/>
                </a:solidFill>
              </a:rPr>
              <a:t>del </a:t>
            </a:r>
            <a:r>
              <a:rPr lang="en-US" sz="2000" dirty="0"/>
              <a:t>d1[4]</a:t>
            </a:r>
          </a:p>
          <a:p>
            <a:pPr lvl="1"/>
            <a:r>
              <a:rPr lang="en-US" sz="2000" dirty="0"/>
              <a:t>Output: </a:t>
            </a:r>
          </a:p>
          <a:p>
            <a:pPr marL="457200" lvl="1" indent="0">
              <a:buNone/>
            </a:pPr>
            <a:r>
              <a:rPr lang="en-US" sz="2000" dirty="0"/>
              <a:t>	{‘a’: ‘hello world’, ‘b’: [1, 2, 5, 6], 3: ‘a value’, ‘type’:  ‘string’}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186" y="-8034"/>
            <a:ext cx="898940" cy="80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97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7"/>
            <a:ext cx="9906000" cy="1191386"/>
          </a:xfrm>
        </p:spPr>
        <p:txBody>
          <a:bodyPr/>
          <a:lstStyle/>
          <a:p>
            <a:pPr algn="ctr"/>
            <a:r>
              <a:rPr lang="en-US" sz="4000" dirty="0"/>
              <a:t>Dictionary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3C32-3637-4A6D-BDDF-6FD34EE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5794" y="1570893"/>
            <a:ext cx="5030791" cy="644769"/>
          </a:xfrm>
        </p:spPr>
        <p:txBody>
          <a:bodyPr>
            <a:noAutofit/>
          </a:bodyPr>
          <a:lstStyle/>
          <a:p>
            <a:r>
              <a:rPr lang="en-US" sz="2800" dirty="0"/>
              <a:t>Delete values: pop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9121" y="2426677"/>
            <a:ext cx="10281139" cy="38121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pop()</a:t>
            </a:r>
            <a:r>
              <a:rPr lang="en-US" sz="2400" b="1" dirty="0"/>
              <a:t> </a:t>
            </a:r>
            <a:r>
              <a:rPr lang="en-US" sz="2400" dirty="0"/>
              <a:t>method - simultaneously returns the value but deletes the key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Pass the key to the method</a:t>
            </a:r>
          </a:p>
          <a:p>
            <a:pPr marL="457200" lvl="1" indent="0">
              <a:buNone/>
            </a:pPr>
            <a:r>
              <a:rPr lang="en-US" dirty="0"/>
              <a:t>d1 = </a:t>
            </a:r>
            <a:r>
              <a:rPr lang="en-US" dirty="0">
                <a:latin typeface="TW Cen MT"/>
              </a:rPr>
              <a:t>{‘a’: ‘hello world’, ‘b’: [1, 2, 5, 6], </a:t>
            </a:r>
            <a:r>
              <a:rPr lang="en-US" dirty="0">
                <a:solidFill>
                  <a:srgbClr val="FFC000"/>
                </a:solidFill>
                <a:latin typeface="TW Cen MT"/>
              </a:rPr>
              <a:t>3</a:t>
            </a:r>
            <a:r>
              <a:rPr lang="en-US" dirty="0">
                <a:latin typeface="TW Cen MT"/>
              </a:rPr>
              <a:t>: </a:t>
            </a:r>
            <a:r>
              <a:rPr lang="en-US" dirty="0">
                <a:solidFill>
                  <a:schemeClr val="accent1">
                    <a:lumMod val="49000"/>
                  </a:schemeClr>
                </a:solidFill>
                <a:latin typeface="TW Cen MT"/>
              </a:rPr>
              <a:t>‘a value’</a:t>
            </a:r>
            <a:r>
              <a:rPr lang="en-US" dirty="0">
                <a:latin typeface="TW Cen MT"/>
              </a:rPr>
              <a:t>, ‘type’: ‘string’}</a:t>
            </a:r>
            <a:endParaRPr lang="en-US" dirty="0">
              <a:solidFill>
                <a:srgbClr val="000000"/>
              </a:solidFill>
              <a:latin typeface="TW Cen MT"/>
            </a:endParaRPr>
          </a:p>
          <a:p>
            <a:pPr marL="457200" lvl="1" indent="0">
              <a:buNone/>
            </a:pPr>
            <a:r>
              <a:rPr lang="en-US" sz="2000" dirty="0"/>
              <a:t>d1.</a:t>
            </a:r>
            <a:r>
              <a:rPr lang="en-US" sz="2000" dirty="0">
                <a:solidFill>
                  <a:schemeClr val="bg2"/>
                </a:solidFill>
              </a:rPr>
              <a:t>pop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FFC000"/>
                </a:solidFill>
              </a:rPr>
              <a:t>3</a:t>
            </a:r>
            <a:r>
              <a:rPr lang="en-US" sz="2000" dirty="0"/>
              <a:t>)</a:t>
            </a:r>
            <a:r>
              <a:rPr lang="en-US" dirty="0"/>
              <a:t>  # </a:t>
            </a:r>
            <a:r>
              <a:rPr lang="en-US" dirty="0">
                <a:solidFill>
                  <a:srgbClr val="FFC000"/>
                </a:solidFill>
              </a:rPr>
              <a:t>3</a:t>
            </a:r>
            <a:r>
              <a:rPr lang="en-US" dirty="0"/>
              <a:t> is a key</a:t>
            </a:r>
          </a:p>
          <a:p>
            <a:pPr lvl="1"/>
            <a:r>
              <a:rPr lang="en-US" sz="2000" dirty="0"/>
              <a:t>Output: 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2000" dirty="0">
                <a:solidFill>
                  <a:schemeClr val="accent1">
                    <a:lumMod val="49000"/>
                  </a:schemeClr>
                </a:solidFill>
              </a:rPr>
              <a:t>‘a value’</a:t>
            </a:r>
          </a:p>
          <a:p>
            <a:pPr lvl="1"/>
            <a:r>
              <a:rPr lang="en-US" sz="2000" dirty="0"/>
              <a:t>Output: </a:t>
            </a:r>
          </a:p>
          <a:p>
            <a:pPr marL="457200" lvl="1" indent="0">
              <a:buNone/>
            </a:pPr>
            <a:r>
              <a:rPr lang="en-US" sz="2000" dirty="0"/>
              <a:t>	{‘a’: ‘hello world’, ‘b’: [1, 2, 5, 6], ‘type’:  ‘string’}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0748" y="-8034"/>
            <a:ext cx="909378" cy="82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74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7"/>
            <a:ext cx="9906000" cy="1191386"/>
          </a:xfrm>
        </p:spPr>
        <p:txBody>
          <a:bodyPr/>
          <a:lstStyle/>
          <a:p>
            <a:pPr algn="ctr"/>
            <a:r>
              <a:rPr lang="en-US" sz="4000" dirty="0"/>
              <a:t>Dictionary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3C32-3637-4A6D-BDDF-6FD34EE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1929383"/>
            <a:ext cx="5030791" cy="539497"/>
          </a:xfrm>
        </p:spPr>
        <p:txBody>
          <a:bodyPr>
            <a:noAutofit/>
          </a:bodyPr>
          <a:lstStyle/>
          <a:p>
            <a:r>
              <a:rPr lang="en-US" sz="3000" dirty="0"/>
              <a:t>Keys and values 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3" y="2688337"/>
            <a:ext cx="5646067" cy="310286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k</a:t>
            </a:r>
            <a:r>
              <a:rPr lang="en-US" sz="2400" b="1" dirty="0">
                <a:solidFill>
                  <a:schemeClr val="bg2"/>
                </a:solidFill>
              </a:rPr>
              <a:t>eys()</a:t>
            </a:r>
            <a:r>
              <a:rPr lang="en-US" sz="2400" dirty="0"/>
              <a:t> – outputs </a:t>
            </a:r>
            <a:r>
              <a:rPr lang="en-US" dirty="0"/>
              <a:t>the </a:t>
            </a:r>
            <a:r>
              <a:rPr lang="en-US" sz="2400" dirty="0"/>
              <a:t>iterators of the </a:t>
            </a:r>
            <a:r>
              <a:rPr lang="en-US" sz="2400" dirty="0" err="1"/>
              <a:t>dict</a:t>
            </a:r>
            <a:r>
              <a:rPr lang="en-US" sz="2400" dirty="0"/>
              <a:t> keys</a:t>
            </a:r>
          </a:p>
          <a:p>
            <a:pPr marL="457200" lvl="1" indent="0">
              <a:buNone/>
            </a:pPr>
            <a:r>
              <a:rPr lang="en-US" dirty="0"/>
              <a:t>d1{‘a’: ‘hello world’, ‘b’: [1, 2, 5, 6], 3: ‘a value’} </a:t>
            </a:r>
          </a:p>
          <a:p>
            <a:pPr marL="457200" lvl="1" indent="0">
              <a:buNone/>
            </a:pPr>
            <a:r>
              <a:rPr lang="en-US" dirty="0"/>
              <a:t>list(d1.</a:t>
            </a:r>
            <a:r>
              <a:rPr lang="en-US" dirty="0">
                <a:solidFill>
                  <a:schemeClr val="bg2"/>
                </a:solidFill>
              </a:rPr>
              <a:t>keys()</a:t>
            </a:r>
            <a:r>
              <a:rPr lang="en-US" dirty="0"/>
              <a:t>)</a:t>
            </a:r>
          </a:p>
          <a:p>
            <a:pPr lvl="1"/>
            <a:r>
              <a:rPr lang="en-US" sz="2000" dirty="0"/>
              <a:t>Output: [‘a’, ‘b’, 3]</a:t>
            </a:r>
          </a:p>
          <a:p>
            <a:r>
              <a:rPr lang="en-US" b="1" dirty="0">
                <a:solidFill>
                  <a:schemeClr val="bg2"/>
                </a:solidFill>
              </a:rPr>
              <a:t>values()</a:t>
            </a:r>
            <a:r>
              <a:rPr lang="en-US" dirty="0"/>
              <a:t> - </a:t>
            </a:r>
            <a:r>
              <a:rPr lang="en-US" sz="2400" dirty="0"/>
              <a:t>outputs </a:t>
            </a:r>
            <a:r>
              <a:rPr lang="en-US" dirty="0"/>
              <a:t>the </a:t>
            </a:r>
            <a:r>
              <a:rPr lang="en-US" sz="2400" dirty="0"/>
              <a:t>iterators of the </a:t>
            </a:r>
            <a:r>
              <a:rPr lang="en-US" sz="2400" dirty="0" err="1"/>
              <a:t>dict</a:t>
            </a:r>
            <a:r>
              <a:rPr lang="en-US" sz="2400" dirty="0"/>
              <a:t> values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list(d1.</a:t>
            </a:r>
            <a:r>
              <a:rPr lang="en-US" dirty="0">
                <a:solidFill>
                  <a:schemeClr val="bg2"/>
                </a:solidFill>
              </a:rPr>
              <a:t>values()</a:t>
            </a:r>
            <a:r>
              <a:rPr lang="en-US" dirty="0"/>
              <a:t>)</a:t>
            </a:r>
          </a:p>
          <a:p>
            <a:pPr lvl="1"/>
            <a:r>
              <a:rPr lang="en-US" sz="2000" dirty="0"/>
              <a:t>Output: [</a:t>
            </a:r>
            <a:r>
              <a:rPr lang="en-US" dirty="0"/>
              <a:t>‘hello world’, </a:t>
            </a:r>
            <a:r>
              <a:rPr lang="en-US" sz="2000" dirty="0"/>
              <a:t> [1, 2, 5, 6], </a:t>
            </a:r>
            <a:r>
              <a:rPr lang="en-US" dirty="0"/>
              <a:t>‘a value’]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30F25-2E69-A603-FB04-7EFEE6E23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6985" y="1929383"/>
            <a:ext cx="4400425" cy="539497"/>
          </a:xfrm>
        </p:spPr>
        <p:txBody>
          <a:bodyPr>
            <a:normAutofit/>
          </a:bodyPr>
          <a:lstStyle/>
          <a:p>
            <a:r>
              <a:rPr lang="en-US" sz="3000" dirty="0"/>
              <a:t>Items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5291" y="2688337"/>
            <a:ext cx="5533294" cy="310286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342900" indent="-342900"/>
            <a:r>
              <a:rPr lang="en-US" b="1" dirty="0">
                <a:solidFill>
                  <a:schemeClr val="bg2"/>
                </a:solidFill>
              </a:rPr>
              <a:t>items()</a:t>
            </a:r>
            <a:r>
              <a:rPr lang="en-US" dirty="0"/>
              <a:t> - </a:t>
            </a:r>
            <a:r>
              <a:rPr lang="en-US" sz="2400" dirty="0"/>
              <a:t>outputs iterators of the </a:t>
            </a:r>
            <a:r>
              <a:rPr lang="en-US" sz="2400" dirty="0" err="1"/>
              <a:t>dict</a:t>
            </a:r>
            <a:r>
              <a:rPr lang="en-US" sz="2400" dirty="0">
                <a:solidFill>
                  <a:srgbClr val="C00000"/>
                </a:solidFill>
              </a:rPr>
              <a:t> keys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&amp;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values</a:t>
            </a:r>
            <a:r>
              <a:rPr lang="en-US" sz="2400" dirty="0"/>
              <a:t> as </a:t>
            </a:r>
            <a:r>
              <a:rPr lang="en-US" dirty="0">
                <a:solidFill>
                  <a:srgbClr val="C00000"/>
                </a:solidFill>
              </a:rPr>
              <a:t>2-item tuples </a:t>
            </a:r>
            <a:r>
              <a:rPr lang="en-US" dirty="0"/>
              <a:t>=&gt;</a:t>
            </a:r>
            <a:r>
              <a:rPr lang="en-US" dirty="0">
                <a:solidFill>
                  <a:srgbClr val="C00000"/>
                </a:solidFill>
              </a:rPr>
              <a:t> (key, value)</a:t>
            </a:r>
            <a:endParaRPr lang="en-US"/>
          </a:p>
          <a:p>
            <a:pPr marL="457200" lvl="1" indent="0">
              <a:buNone/>
            </a:pPr>
            <a:r>
              <a:rPr lang="en-US" dirty="0"/>
              <a:t>list(d1.</a:t>
            </a:r>
            <a:r>
              <a:rPr lang="en-US" dirty="0">
                <a:solidFill>
                  <a:schemeClr val="bg2"/>
                </a:solidFill>
              </a:rPr>
              <a:t>items()</a:t>
            </a:r>
            <a:r>
              <a:rPr lang="en-US" dirty="0"/>
              <a:t>)</a:t>
            </a:r>
          </a:p>
          <a:p>
            <a:pPr lvl="1"/>
            <a:r>
              <a:rPr lang="en-US" sz="2000" dirty="0"/>
              <a:t>Output:</a:t>
            </a:r>
          </a:p>
          <a:p>
            <a:pPr marL="0" indent="0">
              <a:buNone/>
            </a:pPr>
            <a:r>
              <a:rPr lang="en-US" sz="2200" dirty="0"/>
              <a:t>[(‘a’, ‘hello world’),  (‘b’,  [1, 2, 5, 6]), (3, ‘a value’)]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624" y="-8034"/>
            <a:ext cx="888502" cy="85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78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7"/>
            <a:ext cx="9906000" cy="823912"/>
          </a:xfrm>
        </p:spPr>
        <p:txBody>
          <a:bodyPr/>
          <a:lstStyle/>
          <a:p>
            <a:pPr algn="ctr"/>
            <a:r>
              <a:rPr lang="en-US" dirty="0"/>
              <a:t>Dictionary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0019" y="1522660"/>
            <a:ext cx="4649783" cy="610940"/>
          </a:xfrm>
        </p:spPr>
        <p:txBody>
          <a:bodyPr>
            <a:normAutofit/>
          </a:bodyPr>
          <a:lstStyle/>
          <a:p>
            <a:r>
              <a:rPr lang="en-US" sz="2800" dirty="0"/>
              <a:t>Update method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0" y="2213222"/>
            <a:ext cx="4878391" cy="334351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update</a:t>
            </a:r>
            <a:r>
              <a:rPr lang="en-US" sz="2400" dirty="0"/>
              <a:t> method - merge one </a:t>
            </a:r>
            <a:r>
              <a:rPr lang="en-US" sz="2400" err="1"/>
              <a:t>dict</a:t>
            </a:r>
            <a:r>
              <a:rPr lang="en-US" sz="2400" dirty="0"/>
              <a:t> to another dict.</a:t>
            </a:r>
          </a:p>
          <a:p>
            <a:pPr lvl="1"/>
            <a:r>
              <a:rPr lang="en-US" sz="2000" dirty="0"/>
              <a:t>d1.</a:t>
            </a:r>
            <a:r>
              <a:rPr lang="en-US" sz="2000" dirty="0">
                <a:solidFill>
                  <a:schemeClr val="bg2"/>
                </a:solidFill>
              </a:rPr>
              <a:t>update</a:t>
            </a:r>
            <a:r>
              <a:rPr lang="en-US" sz="2000" dirty="0"/>
              <a:t>({‘b’: ‘well’, ’c’: ‘party’})</a:t>
            </a:r>
          </a:p>
          <a:p>
            <a:pPr lvl="1"/>
            <a:r>
              <a:rPr lang="en-US" sz="2000" dirty="0"/>
              <a:t>Output of d1: </a:t>
            </a:r>
          </a:p>
          <a:p>
            <a:pPr marL="457200" lvl="1" indent="0">
              <a:buNone/>
            </a:pPr>
            <a:r>
              <a:rPr lang="en-US" sz="2000" dirty="0"/>
              <a:t>{‘a’: ‘hello world’, ‘b’: ’lets’, 5: ‘string’, ‘c’: ‘party’}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update</a:t>
            </a:r>
            <a:r>
              <a:rPr lang="en-US" sz="2400" dirty="0"/>
              <a:t> method - changes </a:t>
            </a:r>
            <a:r>
              <a:rPr lang="en-US" sz="2400" err="1"/>
              <a:t>dicts</a:t>
            </a:r>
            <a:r>
              <a:rPr lang="en-US" sz="2400" dirty="0"/>
              <a:t> in place.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DD93C-A140-F755-A9E4-17DC09C08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8" y="1522659"/>
            <a:ext cx="4646602" cy="610940"/>
          </a:xfrm>
        </p:spPr>
        <p:txBody>
          <a:bodyPr>
            <a:normAutofit/>
          </a:bodyPr>
          <a:lstStyle/>
          <a:p>
            <a:r>
              <a:rPr lang="en-US" sz="2600" dirty="0"/>
              <a:t>Dictionary from sequences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34015-68CC-A65D-5BC4-611772DF0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1844" y="2159297"/>
            <a:ext cx="5303181" cy="444577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chemeClr val="bg2"/>
                </a:solidFill>
              </a:rPr>
              <a:t>zip()</a:t>
            </a:r>
            <a:r>
              <a:rPr lang="en-US" sz="2000" dirty="0"/>
              <a:t> - use for element-wise pairing of 2 sequences in a dictionary</a:t>
            </a:r>
            <a:endParaRPr lang="en-US"/>
          </a:p>
          <a:p>
            <a:pPr indent="0">
              <a:spcBef>
                <a:spcPts val="600"/>
              </a:spcBef>
            </a:pPr>
            <a:r>
              <a:rPr lang="en-US" sz="2000" dirty="0"/>
              <a:t>Example1: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sz="1800" dirty="0"/>
              <a:t>mapping = { }</a:t>
            </a:r>
          </a:p>
          <a:p>
            <a:pPr marL="457200" lvl="1" indent="0">
              <a:buNone/>
            </a:pPr>
            <a:r>
              <a:rPr lang="en-US" sz="1800" dirty="0"/>
              <a:t>   for key, value in </a:t>
            </a:r>
            <a:r>
              <a:rPr lang="en-US" sz="1800" b="1" dirty="0">
                <a:solidFill>
                  <a:schemeClr val="bg2"/>
                </a:solidFill>
              </a:rPr>
              <a:t>zip</a:t>
            </a:r>
            <a:r>
              <a:rPr lang="en-US" sz="1800" dirty="0"/>
              <a:t>(keys, values):</a:t>
            </a:r>
          </a:p>
          <a:p>
            <a:pPr marL="914400" lvl="2" indent="0">
              <a:buNone/>
            </a:pPr>
            <a:r>
              <a:rPr lang="en-US" dirty="0"/>
              <a:t> mapping[key] = value</a:t>
            </a:r>
          </a:p>
          <a:p>
            <a:pPr marL="342900" indent="-342900"/>
            <a:r>
              <a:rPr lang="en-US" sz="2000" dirty="0"/>
              <a:t>Example 2:</a:t>
            </a:r>
          </a:p>
          <a:p>
            <a:pPr marL="457200" lvl="1" indent="0">
              <a:buNone/>
            </a:pPr>
            <a:r>
              <a:rPr lang="en-US" sz="1800" dirty="0"/>
              <a:t>tup = </a:t>
            </a:r>
            <a:r>
              <a:rPr lang="en-US" sz="1800" b="1" dirty="0">
                <a:solidFill>
                  <a:schemeClr val="tx2">
                    <a:lumMod val="76000"/>
                  </a:schemeClr>
                </a:solidFill>
                <a:latin typeface="TW Cen MT"/>
              </a:rPr>
              <a:t>zip</a:t>
            </a:r>
            <a:r>
              <a:rPr lang="en-US" sz="1800" dirty="0">
                <a:latin typeface="TW Cen MT"/>
              </a:rPr>
              <a:t>(range(5), reversed(range(5)))</a:t>
            </a:r>
            <a:endParaRPr lang="en-US" sz="1800" dirty="0"/>
          </a:p>
          <a:p>
            <a:pPr marL="457200" lvl="1" indent="0">
              <a:buNone/>
            </a:pPr>
            <a:r>
              <a:rPr lang="en-US" sz="1800" dirty="0">
                <a:latin typeface="TW Cen MT"/>
              </a:rPr>
              <a:t>mapping = </a:t>
            </a:r>
            <a:r>
              <a:rPr lang="en-US" sz="1800" err="1">
                <a:latin typeface="TW Cen MT"/>
              </a:rPr>
              <a:t>dict</a:t>
            </a:r>
            <a:r>
              <a:rPr lang="en-US" sz="1800" dirty="0">
                <a:latin typeface="TW Cen MT"/>
              </a:rPr>
              <a:t>(tup)</a:t>
            </a:r>
          </a:p>
          <a:p>
            <a:pPr marL="457200" lvl="1" indent="0">
              <a:buNone/>
            </a:pPr>
            <a:r>
              <a:rPr lang="en-US" sz="1800" dirty="0">
                <a:latin typeface="TW Cen MT"/>
              </a:rPr>
              <a:t>mapping =&gt; </a:t>
            </a:r>
            <a:r>
              <a:rPr lang="en-US" sz="1800" dirty="0">
                <a:ea typeface="+mn-lt"/>
                <a:cs typeface="+mn-lt"/>
              </a:rPr>
              <a:t>{0: 4, 1: 3, 2: 2, 3: 1, 4: 0}</a:t>
            </a:r>
            <a:endParaRPr lang="en-US" sz="1800" dirty="0">
              <a:latin typeface="TW Cen MT"/>
            </a:endParaRPr>
          </a:p>
          <a:p>
            <a:pPr marL="342900" indent="-342900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A96BC4-E2B2-7AD9-06F5-9BCD9E3B8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9892" y="-8034"/>
            <a:ext cx="898940" cy="84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05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7"/>
            <a:ext cx="9906000" cy="823912"/>
          </a:xfrm>
        </p:spPr>
        <p:txBody>
          <a:bodyPr/>
          <a:lstStyle/>
          <a:p>
            <a:pPr algn="ctr"/>
            <a:r>
              <a:rPr lang="en-US" dirty="0"/>
              <a:t>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0019" y="1522660"/>
            <a:ext cx="4649783" cy="610940"/>
          </a:xfrm>
        </p:spPr>
        <p:txBody>
          <a:bodyPr>
            <a:normAutofit/>
          </a:bodyPr>
          <a:lstStyle/>
          <a:p>
            <a:r>
              <a:rPr lang="en-US" sz="2800" dirty="0"/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1" y="2213222"/>
            <a:ext cx="4544282" cy="33435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Set</a:t>
            </a:r>
            <a:r>
              <a:rPr lang="en-US" sz="2400" dirty="0"/>
              <a:t> </a:t>
            </a:r>
            <a:r>
              <a:rPr lang="en-US" dirty="0"/>
              <a:t>-</a:t>
            </a:r>
            <a:r>
              <a:rPr lang="en-US" sz="2400" dirty="0"/>
              <a:t> an unordered collection of unique elements.</a:t>
            </a:r>
            <a:endParaRPr lang="en-US" sz="2000" dirty="0"/>
          </a:p>
          <a:p>
            <a:r>
              <a:rPr lang="en-US" dirty="0"/>
              <a:t>C</a:t>
            </a:r>
            <a:r>
              <a:rPr lang="en-US" sz="2400" dirty="0"/>
              <a:t>reating a set:</a:t>
            </a:r>
          </a:p>
          <a:p>
            <a:pPr lvl="1"/>
            <a:r>
              <a:rPr lang="en-US" b="1" dirty="0">
                <a:solidFill>
                  <a:schemeClr val="bg2"/>
                </a:solidFill>
              </a:rPr>
              <a:t>set</a:t>
            </a:r>
            <a:r>
              <a:rPr lang="en-US" dirty="0"/>
              <a:t> function</a:t>
            </a:r>
          </a:p>
          <a:p>
            <a:pPr lvl="2"/>
            <a:r>
              <a:rPr lang="en-US" sz="2000" dirty="0">
                <a:solidFill>
                  <a:schemeClr val="bg2"/>
                </a:solidFill>
              </a:rPr>
              <a:t>set</a:t>
            </a:r>
            <a:r>
              <a:rPr lang="en-US" sz="2000" dirty="0"/>
              <a:t>([2, 3, 5, 2, 1, 3, 2])</a:t>
            </a:r>
          </a:p>
          <a:p>
            <a:pPr lvl="1"/>
            <a:r>
              <a:rPr lang="en-US" dirty="0"/>
              <a:t>Set literal:</a:t>
            </a:r>
            <a:r>
              <a:rPr lang="en-US" dirty="0">
                <a:solidFill>
                  <a:srgbClr val="C00000"/>
                </a:solidFill>
              </a:rPr>
              <a:t> { }</a:t>
            </a:r>
          </a:p>
          <a:p>
            <a:pPr lvl="2"/>
            <a:r>
              <a:rPr lang="en-US" sz="2000" dirty="0">
                <a:solidFill>
                  <a:srgbClr val="C00000"/>
                </a:solidFill>
              </a:rPr>
              <a:t>{</a:t>
            </a:r>
            <a:r>
              <a:rPr lang="en-US" sz="2000" dirty="0"/>
              <a:t>2, 3, 5, 2, 1, 3, 2</a:t>
            </a:r>
            <a:r>
              <a:rPr lang="en-US" sz="2000" dirty="0">
                <a:solidFill>
                  <a:srgbClr val="C00000"/>
                </a:solidFill>
              </a:rPr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DD93C-A140-F755-A9E4-17DC09C08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8" y="1522659"/>
            <a:ext cx="4646602" cy="610940"/>
          </a:xfrm>
        </p:spPr>
        <p:txBody>
          <a:bodyPr>
            <a:normAutofit/>
          </a:bodyPr>
          <a:lstStyle/>
          <a:p>
            <a:r>
              <a:rPr lang="en-US" sz="2600" dirty="0"/>
              <a:t>Set operations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34015-68CC-A65D-5BC4-611772DF0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14098" y="2332893"/>
            <a:ext cx="5513476" cy="39331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union()</a:t>
            </a:r>
            <a:r>
              <a:rPr lang="en-US" dirty="0"/>
              <a:t> – </a:t>
            </a:r>
            <a:r>
              <a:rPr lang="en-US" sz="2400" dirty="0"/>
              <a:t>equivalent to  a | b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 a= {1, 2, 3, 4, 5, 6, 7, 8}</a:t>
            </a:r>
          </a:p>
          <a:p>
            <a:pPr marL="0" indent="0">
              <a:buNone/>
            </a:pPr>
            <a:r>
              <a:rPr lang="en-US" sz="2400" dirty="0"/>
              <a:t> b = {3, 5, 7, 9}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err="1"/>
              <a:t>a.</a:t>
            </a:r>
            <a:r>
              <a:rPr lang="en-US" err="1">
                <a:solidFill>
                  <a:schemeClr val="bg2"/>
                </a:solidFill>
              </a:rPr>
              <a:t>union</a:t>
            </a:r>
            <a:r>
              <a:rPr lang="en-US" dirty="0"/>
              <a:t>(b)  </a:t>
            </a:r>
            <a:r>
              <a:rPr lang="en-US" dirty="0">
                <a:sym typeface="Wingdings" panose="05000000000000000000" pitchFamily="2" charset="2"/>
              </a:rPr>
              <a:t>  </a:t>
            </a:r>
            <a:r>
              <a:rPr lang="en-US" sz="2400" dirty="0"/>
              <a:t>{1, 2, 3, 4, 5, 6, 7, 8, 9}</a:t>
            </a:r>
            <a:r>
              <a:rPr lang="en-US" dirty="0"/>
              <a:t> </a:t>
            </a:r>
          </a:p>
          <a:p>
            <a:r>
              <a:rPr lang="en-US" b="1" dirty="0">
                <a:solidFill>
                  <a:schemeClr val="bg2"/>
                </a:solidFill>
              </a:rPr>
              <a:t>intersection()</a:t>
            </a:r>
            <a:r>
              <a:rPr lang="en-US" dirty="0"/>
              <a:t> – </a:t>
            </a:r>
            <a:r>
              <a:rPr lang="en-US" sz="2400" dirty="0"/>
              <a:t>equivalent to  a &amp; b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err="1"/>
              <a:t>a.</a:t>
            </a:r>
            <a:r>
              <a:rPr lang="en-US" sz="2400" err="1">
                <a:solidFill>
                  <a:schemeClr val="tx2">
                    <a:lumMod val="76000"/>
                  </a:schemeClr>
                </a:solidFill>
              </a:rPr>
              <a:t>intersection</a:t>
            </a:r>
            <a:r>
              <a:rPr lang="en-US" sz="2400" dirty="0"/>
              <a:t>(b)  </a:t>
            </a:r>
            <a:r>
              <a:rPr lang="en-US" dirty="0">
                <a:sym typeface="Wingdings" panose="05000000000000000000" pitchFamily="2" charset="2"/>
              </a:rPr>
              <a:t>  </a:t>
            </a:r>
            <a:r>
              <a:rPr lang="en-US" sz="2400" dirty="0"/>
              <a:t>{3, 5, 7, 9} 	</a:t>
            </a:r>
            <a:r>
              <a:rPr lang="en-US" dirty="0"/>
              <a:t> 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2D631C-EDFE-4B29-E2C0-A2FB89B5A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521" y="-8034"/>
            <a:ext cx="836311" cy="81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88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7"/>
            <a:ext cx="9906000" cy="823912"/>
          </a:xfrm>
        </p:spPr>
        <p:txBody>
          <a:bodyPr/>
          <a:lstStyle/>
          <a:p>
            <a:pPr algn="ctr"/>
            <a:r>
              <a:rPr lang="en-US" dirty="0"/>
              <a:t>Set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0019" y="1522660"/>
            <a:ext cx="4649783" cy="610940"/>
          </a:xfrm>
        </p:spPr>
        <p:txBody>
          <a:bodyPr>
            <a:normAutofit/>
          </a:bodyPr>
          <a:lstStyle/>
          <a:p>
            <a:r>
              <a:rPr lang="en-US" sz="3200" dirty="0"/>
              <a:t>Set operations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0" y="2213222"/>
            <a:ext cx="4954589" cy="37395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solidFill>
                  <a:schemeClr val="bg2"/>
                </a:solidFill>
                <a:latin typeface="TW Cen MT"/>
              </a:rPr>
              <a:t>issubset</a:t>
            </a:r>
            <a:r>
              <a:rPr lang="en-US" b="1" dirty="0">
                <a:solidFill>
                  <a:schemeClr val="bg2"/>
                </a:solidFill>
                <a:latin typeface="TW Cen MT"/>
              </a:rPr>
              <a:t>() - </a:t>
            </a:r>
            <a:r>
              <a:rPr lang="en-US" sz="2800" dirty="0">
                <a:solidFill>
                  <a:srgbClr val="FFFFFF"/>
                </a:solidFill>
                <a:latin typeface="Tw Cen MT"/>
              </a:rPr>
              <a:t>Checks</a:t>
            </a:r>
            <a:r>
              <a:rPr lang="en-US" sz="2800" dirty="0"/>
              <a:t> a set is a subset of another set.</a:t>
            </a:r>
          </a:p>
          <a:p>
            <a:pPr lvl="1"/>
            <a:r>
              <a:rPr lang="en-US" sz="2400" dirty="0"/>
              <a:t>Example: </a:t>
            </a:r>
          </a:p>
          <a:p>
            <a:pPr marL="457200" lvl="1" indent="0">
              <a:buNone/>
            </a:pPr>
            <a:r>
              <a:rPr lang="en-US" sz="2400" dirty="0" err="1"/>
              <a:t>a_set</a:t>
            </a:r>
            <a:r>
              <a:rPr lang="en-US" sz="2400" dirty="0"/>
              <a:t> = {1, 2, 3, 4, 5}</a:t>
            </a:r>
          </a:p>
          <a:p>
            <a:pPr marL="457200" lvl="1" indent="0">
              <a:buNone/>
            </a:pPr>
            <a:r>
              <a:rPr lang="en-US" sz="2400" dirty="0"/>
              <a:t>{1, 3}.</a:t>
            </a:r>
            <a:r>
              <a:rPr lang="en-US" sz="2400" b="1" err="1">
                <a:solidFill>
                  <a:schemeClr val="bg2"/>
                </a:solidFill>
              </a:rPr>
              <a:t>issubset</a:t>
            </a:r>
            <a:r>
              <a:rPr lang="en-US" sz="2400" dirty="0"/>
              <a:t>(</a:t>
            </a:r>
            <a:r>
              <a:rPr lang="en-US" sz="2400" err="1"/>
              <a:t>a_set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Output: True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DD93C-A140-F755-A9E4-17DC09C08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8" y="1522659"/>
            <a:ext cx="4646602" cy="610940"/>
          </a:xfrm>
        </p:spPr>
        <p:txBody>
          <a:bodyPr>
            <a:normAutofit/>
          </a:bodyPr>
          <a:lstStyle/>
          <a:p>
            <a:r>
              <a:rPr lang="en-US" sz="2800" dirty="0"/>
              <a:t>Set operations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34015-68CC-A65D-5BC4-611772DF0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808" y="2332893"/>
            <a:ext cx="4954588" cy="35051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solidFill>
                  <a:schemeClr val="bg2"/>
                </a:solidFill>
                <a:latin typeface="TW Cen MT"/>
              </a:rPr>
              <a:t>issuperset</a:t>
            </a:r>
            <a:r>
              <a:rPr lang="en-US" b="1" dirty="0">
                <a:solidFill>
                  <a:schemeClr val="bg2"/>
                </a:solidFill>
                <a:latin typeface="TW Cen MT"/>
              </a:rPr>
              <a:t>() - </a:t>
            </a:r>
            <a:r>
              <a:rPr lang="en-US" sz="2800" dirty="0"/>
              <a:t>Checks a set is a superset of another set.</a:t>
            </a:r>
          </a:p>
          <a:p>
            <a:pPr lvl="1"/>
            <a:r>
              <a:rPr lang="en-US" sz="2400" dirty="0"/>
              <a:t>Example: </a:t>
            </a:r>
          </a:p>
          <a:p>
            <a:pPr marL="457200" lvl="1" indent="0">
              <a:buNone/>
            </a:pPr>
            <a:r>
              <a:rPr lang="en-US" sz="2400" err="1"/>
              <a:t>a_set.</a:t>
            </a:r>
            <a:r>
              <a:rPr lang="en-US" sz="2400" b="1" err="1">
                <a:solidFill>
                  <a:schemeClr val="bg2"/>
                </a:solidFill>
              </a:rPr>
              <a:t>issuperset</a:t>
            </a:r>
            <a:r>
              <a:rPr lang="en-US" sz="2400" dirty="0"/>
              <a:t>({1, 3})</a:t>
            </a:r>
          </a:p>
          <a:p>
            <a:pPr lvl="1"/>
            <a:r>
              <a:rPr lang="en-US" sz="2400" dirty="0"/>
              <a:t>Output: True 	</a:t>
            </a:r>
            <a:r>
              <a:rPr lang="en-US" dirty="0"/>
              <a:t> 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9D1C0B-83C9-5AD7-DFC2-09F0DCB10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1207" y="-8034"/>
            <a:ext cx="867625" cy="84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12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971929"/>
          </a:xfrm>
        </p:spPr>
        <p:txBody>
          <a:bodyPr/>
          <a:lstStyle/>
          <a:p>
            <a:pPr algn="ctr"/>
            <a:r>
              <a:rPr lang="en-US" dirty="0"/>
              <a:t>List, set, &amp; </a:t>
            </a:r>
            <a:r>
              <a:rPr lang="en-US" dirty="0" err="1"/>
              <a:t>dict</a:t>
            </a:r>
            <a:r>
              <a:rPr lang="en-US" dirty="0"/>
              <a:t> comprehensions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0019" y="1702490"/>
            <a:ext cx="4649783" cy="610941"/>
          </a:xfrm>
        </p:spPr>
        <p:txBody>
          <a:bodyPr>
            <a:normAutofit/>
          </a:bodyPr>
          <a:lstStyle/>
          <a:p>
            <a:r>
              <a:rPr lang="en-US" sz="3000" dirty="0"/>
              <a:t>List comprehension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0" y="2494589"/>
            <a:ext cx="5497134" cy="2936946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Widely used feature</a:t>
            </a:r>
          </a:p>
          <a:p>
            <a:r>
              <a:rPr lang="en-US" sz="2800" dirty="0"/>
              <a:t>Concisely form a list using concise expression</a:t>
            </a:r>
          </a:p>
          <a:p>
            <a:r>
              <a:rPr lang="en-US" sz="2800" dirty="0"/>
              <a:t>Syntax: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400" dirty="0"/>
              <a:t>[expr for value in collection if condition]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DD93C-A140-F755-A9E4-17DC09C08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08794" y="1702490"/>
            <a:ext cx="4338616" cy="610941"/>
          </a:xfrm>
        </p:spPr>
        <p:txBody>
          <a:bodyPr>
            <a:normAutofit/>
          </a:bodyPr>
          <a:lstStyle/>
          <a:p>
            <a:r>
              <a:rPr lang="en-US" sz="3000" dirty="0"/>
              <a:t>For loop equivalent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34015-68CC-A65D-5BC4-611772DF0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40296" y="2494588"/>
            <a:ext cx="4415100" cy="293694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 result = [ 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 for value in collection: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      if condition: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	  </a:t>
            </a:r>
            <a:r>
              <a:rPr lang="en-US" sz="2800" dirty="0" err="1"/>
              <a:t>result.append</a:t>
            </a:r>
            <a:r>
              <a:rPr lang="en-US" sz="2800" dirty="0"/>
              <a:t>(expr)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B4AC88-D072-481D-2D58-6F11EF418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330" y="-8034"/>
            <a:ext cx="867625" cy="92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536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971929"/>
          </a:xfrm>
        </p:spPr>
        <p:txBody>
          <a:bodyPr/>
          <a:lstStyle/>
          <a:p>
            <a:pPr algn="ctr"/>
            <a:r>
              <a:rPr lang="en-US" dirty="0"/>
              <a:t>List, set, &amp; </a:t>
            </a:r>
            <a:r>
              <a:rPr lang="en-US" dirty="0" err="1"/>
              <a:t>dict</a:t>
            </a:r>
            <a:r>
              <a:rPr lang="en-US" dirty="0"/>
              <a:t> comprehensions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0019" y="1591055"/>
            <a:ext cx="8478069" cy="658369"/>
          </a:xfrm>
        </p:spPr>
        <p:txBody>
          <a:bodyPr>
            <a:normAutofit/>
          </a:bodyPr>
          <a:lstStyle/>
          <a:p>
            <a:r>
              <a:rPr lang="en-US" sz="3000" dirty="0"/>
              <a:t>Example List comprehension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0" y="2494588"/>
            <a:ext cx="10288590" cy="3439867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sz="2800" dirty="0"/>
              <a:t>Select strings with length greater than 2 and convert to uppercase: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en-US" sz="2400" dirty="0"/>
              <a:t>strings = [‘a’, ‘as’, ‘bat’, ‘car’, ‘bar’, ‘strength’]</a:t>
            </a:r>
          </a:p>
          <a:p>
            <a:pPr marL="457200" lvl="1" indent="0">
              <a:spcAft>
                <a:spcPts val="2400"/>
              </a:spcAft>
              <a:buNone/>
            </a:pPr>
            <a:r>
              <a:rPr lang="en-US" sz="2400" dirty="0"/>
              <a:t>[</a:t>
            </a:r>
            <a:r>
              <a:rPr lang="en-US" sz="2400" dirty="0" err="1"/>
              <a:t>x.upper</a:t>
            </a:r>
            <a:r>
              <a:rPr lang="en-US" sz="2400" dirty="0"/>
              <a:t>() for x in strings if </a:t>
            </a:r>
            <a:r>
              <a:rPr lang="en-US" sz="2400" dirty="0" err="1"/>
              <a:t>len</a:t>
            </a:r>
            <a:r>
              <a:rPr lang="en-US" sz="2400" dirty="0"/>
              <a:t>(x) &gt; 2]</a:t>
            </a:r>
          </a:p>
          <a:p>
            <a:pPr lvl="1"/>
            <a:r>
              <a:rPr lang="en-US" sz="2400" dirty="0"/>
              <a:t>Output:</a:t>
            </a: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</a:t>
            </a:r>
            <a:r>
              <a:rPr lang="en-US" sz="2400" dirty="0"/>
              <a:t>  [‘BAT’, ‘CAR’, ‘BAR’, ‘STRENGTH’]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BE3C6-558A-DC51-BC3E-2A4716A96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17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User-defined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10E971-7046-9ADF-59AB-21C14ABAE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75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971929"/>
          </a:xfrm>
        </p:spPr>
        <p:txBody>
          <a:bodyPr/>
          <a:lstStyle/>
          <a:p>
            <a:pPr algn="ctr"/>
            <a:r>
              <a:rPr lang="en-US" dirty="0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0020" y="1591055"/>
            <a:ext cx="2235330" cy="658369"/>
          </a:xfrm>
        </p:spPr>
        <p:txBody>
          <a:bodyPr>
            <a:normAutofit/>
          </a:bodyPr>
          <a:lstStyle/>
          <a:p>
            <a:r>
              <a:rPr lang="en-US" sz="3000" dirty="0"/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1" y="2342606"/>
            <a:ext cx="4954590" cy="3591849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800"/>
              </a:spcBef>
            </a:pPr>
            <a:r>
              <a:rPr lang="en-US" sz="2800" dirty="0"/>
              <a:t>Organize Python codes: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en-US" sz="2400" dirty="0">
                <a:sym typeface="Wingdings" panose="05000000000000000000" pitchFamily="2" charset="2"/>
              </a:rPr>
              <a:t></a:t>
            </a:r>
            <a:r>
              <a:rPr lang="en-US" sz="2400" dirty="0"/>
              <a:t> Improves code readability by giving appropriate names to a group of Python statements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Reuse Python codes: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en-US" sz="2400" dirty="0">
                <a:sym typeface="Wingdings" panose="05000000000000000000" pitchFamily="2" charset="2"/>
              </a:rPr>
              <a:t> Write reusable function for very similar and repeating the same code</a:t>
            </a: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D027B78-AA3C-561C-16E2-6B1E3AD0902E}"/>
              </a:ext>
            </a:extLst>
          </p:cNvPr>
          <p:cNvSpPr txBox="1">
            <a:spLocks/>
          </p:cNvSpPr>
          <p:nvPr/>
        </p:nvSpPr>
        <p:spPr>
          <a:xfrm>
            <a:off x="6590819" y="1612826"/>
            <a:ext cx="4312312" cy="6583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b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/>
              <a:t>Function declaration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AF73D45-ED09-47A1-65E5-6B1CC59D4369}"/>
              </a:ext>
            </a:extLst>
          </p:cNvPr>
          <p:cNvSpPr txBox="1">
            <a:spLocks/>
          </p:cNvSpPr>
          <p:nvPr/>
        </p:nvSpPr>
        <p:spPr>
          <a:xfrm>
            <a:off x="6362210" y="2516359"/>
            <a:ext cx="5176648" cy="343986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3200" b="1" dirty="0">
                <a:solidFill>
                  <a:schemeClr val="bg2"/>
                </a:solidFill>
              </a:rPr>
              <a:t>def</a:t>
            </a:r>
            <a:r>
              <a:rPr lang="en-US" sz="3200" dirty="0"/>
              <a:t> – keyword that declares functions</a:t>
            </a:r>
          </a:p>
          <a:p>
            <a:pPr>
              <a:spcBef>
                <a:spcPts val="1800"/>
              </a:spcBef>
            </a:pPr>
            <a:r>
              <a:rPr lang="en-US" sz="3200" b="1" dirty="0">
                <a:solidFill>
                  <a:schemeClr val="bg2"/>
                </a:solidFill>
              </a:rPr>
              <a:t>return</a:t>
            </a:r>
            <a:r>
              <a:rPr lang="en-US" sz="3200" dirty="0"/>
              <a:t> – keyword that returns values or expressions depending on the logic of the block of code in a function.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3200" b="1" dirty="0"/>
              <a:t>   </a:t>
            </a:r>
            <a:r>
              <a:rPr lang="en-US" sz="3200" b="1" dirty="0">
                <a:solidFill>
                  <a:schemeClr val="bg2"/>
                </a:solidFill>
              </a:rPr>
              <a:t>def</a:t>
            </a:r>
            <a:r>
              <a:rPr lang="en-US" sz="3200" dirty="0">
                <a:solidFill>
                  <a:schemeClr val="bg2"/>
                </a:solidFill>
              </a:rPr>
              <a:t> </a:t>
            </a:r>
            <a:r>
              <a:rPr lang="en-US" sz="3200" err="1"/>
              <a:t>add_values</a:t>
            </a:r>
            <a:r>
              <a:rPr lang="en-US" sz="3200" dirty="0"/>
              <a:t> (x, y):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US" sz="3200" b="1" dirty="0">
                <a:solidFill>
                  <a:schemeClr val="bg2"/>
                </a:solidFill>
              </a:rPr>
              <a:t>return</a:t>
            </a:r>
            <a:r>
              <a:rPr lang="en-US" sz="3200" dirty="0"/>
              <a:t> x + 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400" dirty="0"/>
              <a:t>   </a:t>
            </a:r>
            <a:r>
              <a:rPr lang="en-US" sz="3200" dirty="0"/>
              <a:t>result = </a:t>
            </a:r>
            <a:r>
              <a:rPr lang="en-US" sz="3200" dirty="0" err="1"/>
              <a:t>add_values</a:t>
            </a:r>
            <a:r>
              <a:rPr lang="en-US" sz="3200" dirty="0"/>
              <a:t>(1, 2)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  result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>
                <a:sym typeface="Wingdings" panose="05000000000000000000" pitchFamily="2" charset="2"/>
              </a:rPr>
              <a:t>    3</a:t>
            </a:r>
            <a:endParaRPr lang="en-US" sz="3200" dirty="0"/>
          </a:p>
          <a:p>
            <a:pPr marL="0" indent="0">
              <a:spcBef>
                <a:spcPts val="0"/>
              </a:spcBef>
              <a:buNone/>
            </a:pPr>
            <a:endParaRPr lang="en-US" sz="34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06020F-799A-ECEC-6005-4B7F8C7BC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32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971929"/>
          </a:xfrm>
        </p:spPr>
        <p:txBody>
          <a:bodyPr/>
          <a:lstStyle/>
          <a:p>
            <a:pPr algn="ctr"/>
            <a:r>
              <a:rPr lang="en-US" dirty="0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0020" y="1591055"/>
            <a:ext cx="4081546" cy="658369"/>
          </a:xfrm>
        </p:spPr>
        <p:txBody>
          <a:bodyPr>
            <a:normAutofit/>
          </a:bodyPr>
          <a:lstStyle/>
          <a:p>
            <a:r>
              <a:rPr lang="en-US" sz="3000" dirty="0"/>
              <a:t>Return statements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95086111-91E3-F1D5-6996-5B8E2151D30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41411" y="2342606"/>
          <a:ext cx="4954590" cy="3591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D027B78-AA3C-561C-16E2-6B1E3AD0902E}"/>
              </a:ext>
            </a:extLst>
          </p:cNvPr>
          <p:cNvSpPr txBox="1">
            <a:spLocks/>
          </p:cNvSpPr>
          <p:nvPr/>
        </p:nvSpPr>
        <p:spPr>
          <a:xfrm>
            <a:off x="6590819" y="1591056"/>
            <a:ext cx="4312312" cy="5164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b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/>
              <a:t>Function arguments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AF73D45-ED09-47A1-65E5-6B1CC59D4369}"/>
              </a:ext>
            </a:extLst>
          </p:cNvPr>
          <p:cNvSpPr txBox="1">
            <a:spLocks/>
          </p:cNvSpPr>
          <p:nvPr/>
        </p:nvSpPr>
        <p:spPr>
          <a:xfrm>
            <a:off x="6236208" y="2107474"/>
            <a:ext cx="5302650" cy="413140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5800" cap="all">
                <a:solidFill>
                  <a:schemeClr val="bg2"/>
                </a:solidFill>
                <a:latin typeface="TW Cen MT"/>
              </a:rPr>
              <a:t>keyword</a:t>
            </a:r>
            <a:r>
              <a:rPr lang="en-US" sz="5800" cap="all">
                <a:solidFill>
                  <a:srgbClr val="FFFFFF"/>
                </a:solidFill>
                <a:latin typeface="TW Cen MT"/>
              </a:rPr>
              <a:t> or </a:t>
            </a:r>
            <a:r>
              <a:rPr lang="en-US" sz="5800" cap="all">
                <a:solidFill>
                  <a:schemeClr val="bg2"/>
                </a:solidFill>
                <a:latin typeface="TW Cen MT"/>
              </a:rPr>
              <a:t>Positional</a:t>
            </a:r>
            <a:endParaRPr lang="en-US" sz="5800">
              <a:solidFill>
                <a:schemeClr val="bg2"/>
              </a:solidFill>
              <a:latin typeface="TW Cen MT"/>
            </a:endParaRPr>
          </a:p>
          <a:p>
            <a:pPr>
              <a:spcBef>
                <a:spcPts val="1800"/>
              </a:spcBef>
            </a:pPr>
            <a:r>
              <a:rPr lang="en-US" sz="7200" dirty="0">
                <a:solidFill>
                  <a:schemeClr val="bg2"/>
                </a:solidFill>
              </a:rPr>
              <a:t>Keyword</a:t>
            </a:r>
            <a:r>
              <a:rPr lang="en-US" sz="7200" dirty="0"/>
              <a:t> arguments – used to specify default values or optional arguments.</a:t>
            </a:r>
            <a:endParaRPr lang="en-US" dirty="0"/>
          </a:p>
          <a:p>
            <a:pPr marL="457200" lvl="1" indent="0">
              <a:buNone/>
            </a:pPr>
            <a:r>
              <a:rPr lang="en-US" sz="6400" dirty="0"/>
              <a:t>  def </a:t>
            </a:r>
            <a:r>
              <a:rPr lang="en-US" sz="6400" dirty="0" err="1"/>
              <a:t>my_function</a:t>
            </a:r>
            <a:r>
              <a:rPr lang="en-US" sz="6400" dirty="0"/>
              <a:t>(x, y, z = 2):</a:t>
            </a:r>
          </a:p>
          <a:p>
            <a:pPr marL="457200" lvl="1" indent="0">
              <a:buNone/>
            </a:pPr>
            <a:r>
              <a:rPr lang="en-US" sz="6400" dirty="0"/>
              <a:t>       if z &gt; 1: </a:t>
            </a:r>
          </a:p>
          <a:p>
            <a:pPr marL="457200" lvl="1" indent="0">
              <a:buNone/>
            </a:pPr>
            <a:r>
              <a:rPr lang="en-US" sz="6400" dirty="0"/>
              <a:t>          return z * (x + y)</a:t>
            </a:r>
          </a:p>
          <a:p>
            <a:pPr marL="457200" lvl="1" indent="0">
              <a:buNone/>
            </a:pPr>
            <a:r>
              <a:rPr lang="en-US" sz="6400" dirty="0"/>
              <a:t>       else: </a:t>
            </a:r>
          </a:p>
          <a:p>
            <a:pPr marL="457200" lvl="1" indent="0">
              <a:buNone/>
            </a:pPr>
            <a:r>
              <a:rPr lang="en-US" sz="6400" dirty="0"/>
              <a:t>          return z / (x + y)</a:t>
            </a:r>
          </a:p>
          <a:p>
            <a:r>
              <a:rPr lang="en-US" sz="7200" dirty="0"/>
              <a:t>x and y are </a:t>
            </a:r>
            <a:r>
              <a:rPr lang="en-US" sz="7200" b="1" dirty="0">
                <a:solidFill>
                  <a:schemeClr val="tx2">
                    <a:lumMod val="76000"/>
                  </a:schemeClr>
                </a:solidFill>
              </a:rPr>
              <a:t>positional</a:t>
            </a:r>
            <a:r>
              <a:rPr lang="en-US" sz="7200" dirty="0"/>
              <a:t> arguments while z is a</a:t>
            </a:r>
            <a:r>
              <a:rPr lang="en-US" sz="7200" dirty="0">
                <a:solidFill>
                  <a:schemeClr val="tx2">
                    <a:lumMod val="76000"/>
                  </a:schemeClr>
                </a:solidFill>
              </a:rPr>
              <a:t> </a:t>
            </a:r>
            <a:r>
              <a:rPr lang="en-US" sz="7200" b="1" dirty="0">
                <a:solidFill>
                  <a:schemeClr val="tx2">
                    <a:lumMod val="76000"/>
                  </a:schemeClr>
                </a:solidFill>
              </a:rPr>
              <a:t>keyword</a:t>
            </a:r>
            <a:r>
              <a:rPr lang="en-US" sz="7200" dirty="0"/>
              <a:t> argument.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3CE21C-E652-27AA-A837-70189FC64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156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971929"/>
          </a:xfrm>
        </p:spPr>
        <p:txBody>
          <a:bodyPr/>
          <a:lstStyle/>
          <a:p>
            <a:pPr algn="ctr"/>
            <a:r>
              <a:rPr lang="en-US" dirty="0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0020" y="1591056"/>
            <a:ext cx="4081546" cy="516418"/>
          </a:xfrm>
        </p:spPr>
        <p:txBody>
          <a:bodyPr>
            <a:normAutofit/>
          </a:bodyPr>
          <a:lstStyle/>
          <a:p>
            <a:r>
              <a:rPr lang="en-US" sz="2800" dirty="0"/>
              <a:t>Function arguments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1" y="2342606"/>
            <a:ext cx="4588829" cy="3591849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n-US" sz="6000" dirty="0"/>
              <a:t>Calling a function:</a:t>
            </a:r>
          </a:p>
          <a:p>
            <a:pPr marL="457200" lvl="1" indent="0">
              <a:buNone/>
            </a:pPr>
            <a:r>
              <a:rPr lang="en-US" sz="6400" dirty="0"/>
              <a:t>  </a:t>
            </a:r>
            <a:r>
              <a:rPr lang="en-US" sz="5000" dirty="0" err="1"/>
              <a:t>my_function</a:t>
            </a:r>
            <a:r>
              <a:rPr lang="en-US" sz="5000" dirty="0"/>
              <a:t>(2, 3, z = 0.8)</a:t>
            </a:r>
          </a:p>
          <a:p>
            <a:pPr marL="457200" lvl="1" indent="0">
              <a:buNone/>
            </a:pPr>
            <a:r>
              <a:rPr lang="en-US" sz="5000" dirty="0"/>
              <a:t>  </a:t>
            </a:r>
            <a:r>
              <a:rPr lang="en-US" sz="5000" dirty="0" err="1"/>
              <a:t>my_function</a:t>
            </a:r>
            <a:r>
              <a:rPr lang="en-US" sz="5000" dirty="0"/>
              <a:t>(5, 7, 9)</a:t>
            </a:r>
          </a:p>
          <a:p>
            <a:pPr marL="457200" lvl="1" indent="0">
              <a:buNone/>
            </a:pPr>
            <a:r>
              <a:rPr lang="en-US" sz="5000" dirty="0"/>
              <a:t>  </a:t>
            </a:r>
            <a:r>
              <a:rPr lang="en-US" sz="5000" dirty="0" err="1"/>
              <a:t>my_function</a:t>
            </a:r>
            <a:r>
              <a:rPr lang="en-US" sz="5000" dirty="0"/>
              <a:t>(10, 20)</a:t>
            </a:r>
          </a:p>
          <a:p>
            <a:r>
              <a:rPr lang="en-US" sz="6000" dirty="0">
                <a:solidFill>
                  <a:schemeClr val="bg2"/>
                </a:solidFill>
              </a:rPr>
              <a:t>keyword</a:t>
            </a:r>
            <a:r>
              <a:rPr lang="en-US" sz="6000" dirty="0"/>
              <a:t> argument must follow </a:t>
            </a:r>
            <a:r>
              <a:rPr lang="en-US" sz="6000" dirty="0">
                <a:solidFill>
                  <a:schemeClr val="bg2"/>
                </a:solidFill>
              </a:rPr>
              <a:t>positional</a:t>
            </a:r>
            <a:r>
              <a:rPr lang="en-US" sz="6000" dirty="0"/>
              <a:t> arguments.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D027B78-AA3C-561C-16E2-6B1E3AD0902E}"/>
              </a:ext>
            </a:extLst>
          </p:cNvPr>
          <p:cNvSpPr txBox="1">
            <a:spLocks/>
          </p:cNvSpPr>
          <p:nvPr/>
        </p:nvSpPr>
        <p:spPr>
          <a:xfrm>
            <a:off x="6096000" y="1591056"/>
            <a:ext cx="4807131" cy="5164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b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Namespaces, scope, local 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AF73D45-ED09-47A1-65E5-6B1CC59D4369}"/>
              </a:ext>
            </a:extLst>
          </p:cNvPr>
          <p:cNvSpPr txBox="1">
            <a:spLocks/>
          </p:cNvSpPr>
          <p:nvPr/>
        </p:nvSpPr>
        <p:spPr>
          <a:xfrm>
            <a:off x="5965371" y="2342606"/>
            <a:ext cx="5399315" cy="41278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Functions can access variables in two different scopes – </a:t>
            </a:r>
            <a:r>
              <a:rPr lang="en-US" sz="7200" b="1" i="1" dirty="0">
                <a:solidFill>
                  <a:schemeClr val="bg2"/>
                </a:solidFill>
              </a:rPr>
              <a:t>global</a:t>
            </a:r>
            <a:r>
              <a:rPr lang="en-US" sz="7200" dirty="0">
                <a:solidFill>
                  <a:schemeClr val="bg2"/>
                </a:solidFill>
              </a:rPr>
              <a:t> </a:t>
            </a:r>
            <a:r>
              <a:rPr lang="en-US" sz="7200" dirty="0"/>
              <a:t>and </a:t>
            </a:r>
            <a:r>
              <a:rPr lang="en-US" sz="7200" b="1" i="1">
                <a:solidFill>
                  <a:schemeClr val="bg2"/>
                </a:solidFill>
              </a:rPr>
              <a:t>local</a:t>
            </a:r>
            <a:endParaRPr lang="en-US" sz="7200">
              <a:solidFill>
                <a:schemeClr val="bg2"/>
              </a:solidFill>
            </a:endParaRPr>
          </a:p>
          <a:p>
            <a:r>
              <a:rPr lang="en-US" sz="7200" i="1" dirty="0"/>
              <a:t>Namespace - </a:t>
            </a:r>
            <a:r>
              <a:rPr lang="en-US" sz="7200" dirty="0"/>
              <a:t>a more descriptive name when describing a variable scope in Python.</a:t>
            </a:r>
          </a:p>
          <a:p>
            <a:r>
              <a:rPr lang="en-US" sz="7200" dirty="0"/>
              <a:t>Local namespace - any variables assigned within a function are assigned to the local and gets destroyed after the function is done.</a:t>
            </a:r>
          </a:p>
          <a:p>
            <a:pPr marL="914400" lvl="2" indent="0">
              <a:buNone/>
            </a:pPr>
            <a:r>
              <a:rPr lang="en-US" sz="6400" dirty="0"/>
              <a:t>def </a:t>
            </a:r>
            <a:r>
              <a:rPr lang="en-US" sz="6400" dirty="0" err="1"/>
              <a:t>func</a:t>
            </a:r>
            <a:r>
              <a:rPr lang="en-US" sz="6400" dirty="0"/>
              <a:t>():</a:t>
            </a:r>
          </a:p>
          <a:p>
            <a:pPr marL="914400" lvl="2" indent="0">
              <a:buNone/>
            </a:pPr>
            <a:r>
              <a:rPr lang="en-US" sz="6400" dirty="0"/>
              <a:t>    a = [ ]</a:t>
            </a:r>
          </a:p>
          <a:p>
            <a:pPr marL="914400" lvl="2" indent="0">
              <a:buNone/>
            </a:pPr>
            <a:r>
              <a:rPr lang="en-US" sz="6400" dirty="0"/>
              <a:t>    for </a:t>
            </a:r>
            <a:r>
              <a:rPr lang="en-US" sz="6400" dirty="0" err="1"/>
              <a:t>i</a:t>
            </a:r>
            <a:r>
              <a:rPr lang="en-US" sz="6400" dirty="0"/>
              <a:t> in range(6):</a:t>
            </a:r>
          </a:p>
          <a:p>
            <a:pPr marL="914400" lvl="2" indent="0">
              <a:buNone/>
            </a:pPr>
            <a:r>
              <a:rPr lang="en-US" sz="6400" dirty="0"/>
              <a:t>          </a:t>
            </a:r>
            <a:r>
              <a:rPr lang="en-US" sz="6400" dirty="0" err="1"/>
              <a:t>a.append</a:t>
            </a:r>
            <a:r>
              <a:rPr lang="en-US" sz="6400" dirty="0"/>
              <a:t>(</a:t>
            </a:r>
            <a:r>
              <a:rPr lang="en-US" sz="6400" dirty="0" err="1"/>
              <a:t>i</a:t>
            </a:r>
            <a:r>
              <a:rPr lang="en-US" sz="6400" dirty="0"/>
              <a:t>)</a:t>
            </a:r>
          </a:p>
          <a:p>
            <a:r>
              <a:rPr lang="en-US" sz="7200" dirty="0"/>
              <a:t>In the example, the variable a is destroyed when the function is finished.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FA2BA9-EEE9-5C12-036B-9D41B6977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463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971929"/>
          </a:xfrm>
        </p:spPr>
        <p:txBody>
          <a:bodyPr/>
          <a:lstStyle/>
          <a:p>
            <a:pPr algn="ctr"/>
            <a:r>
              <a:rPr lang="en-US" dirty="0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0019" y="1591056"/>
            <a:ext cx="4595351" cy="516418"/>
          </a:xfrm>
        </p:spPr>
        <p:txBody>
          <a:bodyPr>
            <a:noAutofit/>
          </a:bodyPr>
          <a:lstStyle/>
          <a:p>
            <a:r>
              <a:rPr lang="en-US" sz="2800" dirty="0"/>
              <a:t>Namespaces, scope, local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1" y="2342606"/>
            <a:ext cx="4588829" cy="3591849"/>
          </a:xfrm>
        </p:spPr>
        <p:txBody>
          <a:bodyPr>
            <a:normAutofit fontScale="40000" lnSpcReduction="20000"/>
          </a:bodyPr>
          <a:lstStyle/>
          <a:p>
            <a:r>
              <a:rPr lang="en-US" sz="6000" dirty="0"/>
              <a:t>Assigning variables outside the function’s scope is possible using the </a:t>
            </a:r>
            <a:r>
              <a:rPr lang="en-US" sz="6000" b="1" i="1" dirty="0"/>
              <a:t>global</a:t>
            </a:r>
            <a:r>
              <a:rPr lang="en-US" sz="6000" dirty="0"/>
              <a:t> keyword, but generally it is not recommended.</a:t>
            </a:r>
          </a:p>
          <a:p>
            <a:pPr marL="914400" lvl="2" indent="0">
              <a:buNone/>
            </a:pPr>
            <a:r>
              <a:rPr lang="en-US" sz="6000" dirty="0"/>
              <a:t>a = [ ] </a:t>
            </a:r>
          </a:p>
          <a:p>
            <a:pPr marL="914400" lvl="2" indent="0">
              <a:buNone/>
            </a:pPr>
            <a:r>
              <a:rPr lang="en-US" sz="6000" dirty="0"/>
              <a:t>def </a:t>
            </a:r>
            <a:r>
              <a:rPr lang="en-US" sz="6000" dirty="0" err="1"/>
              <a:t>func_alt</a:t>
            </a:r>
            <a:r>
              <a:rPr lang="en-US" sz="6000" dirty="0"/>
              <a:t>():</a:t>
            </a:r>
          </a:p>
          <a:p>
            <a:pPr marL="914400" lvl="2" indent="0">
              <a:buNone/>
            </a:pPr>
            <a:r>
              <a:rPr lang="en-US" sz="6000" dirty="0"/>
              <a:t>    for </a:t>
            </a:r>
            <a:r>
              <a:rPr lang="en-US" sz="6000" dirty="0" err="1"/>
              <a:t>i</a:t>
            </a:r>
            <a:r>
              <a:rPr lang="en-US" sz="6000" dirty="0"/>
              <a:t> in range(6):</a:t>
            </a:r>
          </a:p>
          <a:p>
            <a:pPr marL="914400" lvl="2" indent="0">
              <a:buNone/>
            </a:pPr>
            <a:r>
              <a:rPr lang="en-US" sz="6000" dirty="0"/>
              <a:t>          </a:t>
            </a:r>
            <a:r>
              <a:rPr lang="en-US" sz="6000" dirty="0" err="1"/>
              <a:t>a.append</a:t>
            </a:r>
            <a:r>
              <a:rPr lang="en-US" sz="6000" dirty="0"/>
              <a:t>(</a:t>
            </a:r>
            <a:r>
              <a:rPr lang="en-US" sz="6000" dirty="0" err="1"/>
              <a:t>i</a:t>
            </a:r>
            <a:r>
              <a:rPr lang="en-US" sz="6000" dirty="0"/>
              <a:t>)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D027B78-AA3C-561C-16E2-6B1E3AD0902E}"/>
              </a:ext>
            </a:extLst>
          </p:cNvPr>
          <p:cNvSpPr txBox="1">
            <a:spLocks/>
          </p:cNvSpPr>
          <p:nvPr/>
        </p:nvSpPr>
        <p:spPr>
          <a:xfrm>
            <a:off x="6418217" y="1591056"/>
            <a:ext cx="4484914" cy="5164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b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Namespaces, scope, local 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AF73D45-ED09-47A1-65E5-6B1CC59D4369}"/>
              </a:ext>
            </a:extLst>
          </p:cNvPr>
          <p:cNvSpPr txBox="1">
            <a:spLocks/>
          </p:cNvSpPr>
          <p:nvPr/>
        </p:nvSpPr>
        <p:spPr>
          <a:xfrm>
            <a:off x="6217920" y="2342606"/>
            <a:ext cx="5146766" cy="4127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Each </a:t>
            </a:r>
            <a:r>
              <a:rPr lang="en-US" dirty="0" err="1"/>
              <a:t>func_alt</a:t>
            </a:r>
            <a:r>
              <a:rPr lang="en-US" dirty="0"/>
              <a:t>() call will modify “a” list</a:t>
            </a:r>
          </a:p>
          <a:p>
            <a:pPr marL="457200" lvl="1" indent="0">
              <a:buNone/>
            </a:pPr>
            <a:r>
              <a:rPr lang="en-US" sz="1800" dirty="0"/>
              <a:t> </a:t>
            </a:r>
            <a:r>
              <a:rPr lang="en-US" dirty="0" err="1"/>
              <a:t>func_alt</a:t>
            </a:r>
            <a:r>
              <a:rPr lang="en-US" dirty="0"/>
              <a:t>()</a:t>
            </a:r>
          </a:p>
          <a:p>
            <a:pPr marL="457200" lvl="1" indent="0">
              <a:buNone/>
            </a:pPr>
            <a:r>
              <a:rPr lang="en-US" dirty="0"/>
              <a:t> a 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Output: [0, 1, 2, 3, 4, 5]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err="1"/>
              <a:t>func_alt</a:t>
            </a:r>
            <a:r>
              <a:rPr lang="en-US" dirty="0"/>
              <a:t>()</a:t>
            </a:r>
          </a:p>
          <a:p>
            <a:pPr marL="457200" lvl="1" indent="0">
              <a:buNone/>
            </a:pPr>
            <a:r>
              <a:rPr lang="en-US" dirty="0"/>
              <a:t> a 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Output: [0, 1, 2, 3, 4, 5, 0, 1, 2, 3, 4, 5]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AC83B0-5664-7E8E-8EFE-329C0A6FE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550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971929"/>
          </a:xfrm>
        </p:spPr>
        <p:txBody>
          <a:bodyPr/>
          <a:lstStyle/>
          <a:p>
            <a:pPr algn="ctr"/>
            <a:r>
              <a:rPr lang="en-US" dirty="0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0525" y="1591056"/>
            <a:ext cx="9744891" cy="516418"/>
          </a:xfrm>
        </p:spPr>
        <p:txBody>
          <a:bodyPr>
            <a:noAutofit/>
          </a:bodyPr>
          <a:lstStyle/>
          <a:p>
            <a:r>
              <a:rPr lang="en-US" sz="2800" dirty="0"/>
              <a:t>Returning multiple values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50E56677-3294-EEE1-8EB1-E14B5BC2926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48080723"/>
              </p:ext>
            </p:extLst>
          </p:nvPr>
        </p:nvGraphicFramePr>
        <p:xfrm>
          <a:off x="940526" y="2342606"/>
          <a:ext cx="10032273" cy="3997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7564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971929"/>
          </a:xfrm>
        </p:spPr>
        <p:txBody>
          <a:bodyPr/>
          <a:lstStyle/>
          <a:p>
            <a:pPr algn="ctr"/>
            <a:r>
              <a:rPr lang="en-US" dirty="0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0525" y="1591056"/>
            <a:ext cx="9744891" cy="516418"/>
          </a:xfrm>
        </p:spPr>
        <p:txBody>
          <a:bodyPr>
            <a:noAutofit/>
          </a:bodyPr>
          <a:lstStyle/>
          <a:p>
            <a:r>
              <a:rPr lang="en-US" sz="2800" dirty="0"/>
              <a:t>Lambda (anonymous)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0526" y="2342606"/>
            <a:ext cx="10032273" cy="3997234"/>
          </a:xfrm>
        </p:spPr>
        <p:txBody>
          <a:bodyPr>
            <a:normAutofit fontScale="32500" lnSpcReduction="20000"/>
          </a:bodyPr>
          <a:lstStyle/>
          <a:p>
            <a:r>
              <a:rPr lang="en-US" sz="7400" dirty="0"/>
              <a:t>Lambda functions in Python are functions consisting of a single statement. </a:t>
            </a:r>
          </a:p>
          <a:p>
            <a:r>
              <a:rPr lang="en-US" sz="7400" b="1" dirty="0"/>
              <a:t>lambda</a:t>
            </a:r>
            <a:r>
              <a:rPr lang="en-US" sz="7400" dirty="0"/>
              <a:t> keyword – defines lambda or anonymous functions.</a:t>
            </a:r>
          </a:p>
          <a:p>
            <a:pPr marL="914400" lvl="2" indent="0">
              <a:buNone/>
            </a:pPr>
            <a:endParaRPr lang="en-US" sz="6000" dirty="0"/>
          </a:p>
          <a:p>
            <a:pPr marL="914400" lvl="2" indent="0">
              <a:buNone/>
            </a:pPr>
            <a:r>
              <a:rPr lang="en-US" sz="6500" dirty="0"/>
              <a:t>def </a:t>
            </a:r>
            <a:r>
              <a:rPr lang="en-US" sz="6500" dirty="0" err="1"/>
              <a:t>anonymous_func</a:t>
            </a:r>
            <a:r>
              <a:rPr lang="en-US" sz="6500" dirty="0"/>
              <a:t>():</a:t>
            </a:r>
          </a:p>
          <a:p>
            <a:pPr marL="457200" lvl="1" indent="0">
              <a:buNone/>
            </a:pPr>
            <a:r>
              <a:rPr lang="en-US" sz="6500" dirty="0"/>
              <a:t>               return x * 2</a:t>
            </a:r>
            <a:endParaRPr lang="en-US" sz="6000" dirty="0"/>
          </a:p>
          <a:p>
            <a:r>
              <a:rPr lang="en-US" sz="7400" dirty="0"/>
              <a:t>Lambda functions useful in data analysis as there are many cases where data transformation functions take functions as arguments.</a:t>
            </a:r>
          </a:p>
          <a:p>
            <a:pPr marL="0" indent="0">
              <a:buNone/>
            </a:pPr>
            <a:r>
              <a:rPr lang="en-US" sz="6600" dirty="0"/>
              <a:t>            </a:t>
            </a:r>
            <a:r>
              <a:rPr lang="en-US" sz="6600" dirty="0" err="1"/>
              <a:t>anonymous_equiv</a:t>
            </a:r>
            <a:r>
              <a:rPr lang="en-US" sz="6600" dirty="0"/>
              <a:t> = lambda x: x * 2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F764D-668D-3FA2-0E8F-5A2705018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0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971929"/>
          </a:xfrm>
        </p:spPr>
        <p:txBody>
          <a:bodyPr/>
          <a:lstStyle/>
          <a:p>
            <a:pPr algn="ctr"/>
            <a:r>
              <a:rPr lang="en-US" dirty="0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0525" y="1591056"/>
            <a:ext cx="9744891" cy="516418"/>
          </a:xfrm>
        </p:spPr>
        <p:txBody>
          <a:bodyPr>
            <a:noAutofit/>
          </a:bodyPr>
          <a:lstStyle/>
          <a:p>
            <a:r>
              <a:rPr lang="en-US" sz="2800" dirty="0"/>
              <a:t>Lambda (anonymous)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0527" y="2342606"/>
            <a:ext cx="4815840" cy="3997234"/>
          </a:xfrm>
        </p:spPr>
        <p:txBody>
          <a:bodyPr>
            <a:normAutofit fontScale="40000" lnSpcReduction="20000"/>
          </a:bodyPr>
          <a:lstStyle/>
          <a:p>
            <a:r>
              <a:rPr lang="en-US" sz="7400" dirty="0"/>
              <a:t>Example 1:</a:t>
            </a:r>
          </a:p>
          <a:p>
            <a:pPr marL="0" indent="0">
              <a:buNone/>
            </a:pPr>
            <a:r>
              <a:rPr lang="en-US" sz="6000" dirty="0"/>
              <a:t>def </a:t>
            </a:r>
            <a:r>
              <a:rPr lang="en-US" sz="6000" dirty="0" err="1"/>
              <a:t>apply_to_list</a:t>
            </a:r>
            <a:r>
              <a:rPr lang="en-US" sz="6000" dirty="0"/>
              <a:t>(</a:t>
            </a:r>
            <a:r>
              <a:rPr lang="en-US" sz="6000" dirty="0" err="1"/>
              <a:t>some_list</a:t>
            </a:r>
            <a:r>
              <a:rPr lang="en-US" sz="6000" dirty="0"/>
              <a:t>, f):</a:t>
            </a:r>
          </a:p>
          <a:p>
            <a:pPr marL="457200" lvl="1" indent="0">
              <a:buNone/>
            </a:pPr>
            <a:r>
              <a:rPr lang="en-US" sz="6000" dirty="0"/>
              <a:t>   return [f(x) for x in </a:t>
            </a:r>
            <a:r>
              <a:rPr lang="en-US" sz="6000" dirty="0" err="1"/>
              <a:t>some_list</a:t>
            </a:r>
            <a:r>
              <a:rPr lang="en-US" sz="6000" dirty="0"/>
              <a:t>]</a:t>
            </a:r>
          </a:p>
          <a:p>
            <a:pPr marL="0" indent="0">
              <a:buNone/>
            </a:pPr>
            <a:r>
              <a:rPr lang="en-US" sz="6400" dirty="0" err="1"/>
              <a:t>ints</a:t>
            </a:r>
            <a:r>
              <a:rPr lang="en-US" sz="6400" dirty="0"/>
              <a:t> = [4, 0, 1, 5, 6]</a:t>
            </a:r>
          </a:p>
          <a:p>
            <a:pPr marL="0" indent="0">
              <a:buNone/>
            </a:pPr>
            <a:r>
              <a:rPr lang="en-US" sz="6400" dirty="0" err="1"/>
              <a:t>apply_to_list</a:t>
            </a:r>
            <a:r>
              <a:rPr lang="en-US" sz="6400" dirty="0"/>
              <a:t>(</a:t>
            </a:r>
            <a:r>
              <a:rPr lang="en-US" sz="6400" dirty="0" err="1"/>
              <a:t>ints</a:t>
            </a:r>
            <a:r>
              <a:rPr lang="en-US" sz="6400" dirty="0"/>
              <a:t>, lambda x: x * 2)</a:t>
            </a:r>
          </a:p>
          <a:p>
            <a:r>
              <a:rPr lang="en-US" sz="6400" dirty="0"/>
              <a:t>Output: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6400" dirty="0"/>
              <a:t> [8, 0, 2, 10, 12]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52633D4-4757-DF3C-29C0-0FCC2052E7E7}"/>
              </a:ext>
            </a:extLst>
          </p:cNvPr>
          <p:cNvSpPr txBox="1">
            <a:spLocks/>
          </p:cNvSpPr>
          <p:nvPr/>
        </p:nvSpPr>
        <p:spPr>
          <a:xfrm>
            <a:off x="5839110" y="2342605"/>
            <a:ext cx="5843451" cy="391450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400" dirty="0"/>
              <a:t>Example 2:</a:t>
            </a:r>
          </a:p>
          <a:p>
            <a:pPr marL="0" indent="0">
              <a:buNone/>
            </a:pPr>
            <a:r>
              <a:rPr lang="en-US" sz="6000" dirty="0"/>
              <a:t>strings = [‘foo’, ’card’, ‘bar’, ‘</a:t>
            </a:r>
            <a:r>
              <a:rPr lang="en-US" sz="6000" dirty="0" err="1"/>
              <a:t>aaaa</a:t>
            </a:r>
            <a:r>
              <a:rPr lang="en-US" sz="6000" dirty="0"/>
              <a:t>’, ‘</a:t>
            </a:r>
            <a:r>
              <a:rPr lang="en-US" sz="6000" dirty="0" err="1"/>
              <a:t>abab</a:t>
            </a:r>
            <a:r>
              <a:rPr lang="en-US" sz="6000" dirty="0"/>
              <a:t>’]</a:t>
            </a:r>
          </a:p>
          <a:p>
            <a:pPr marL="0" indent="0">
              <a:buNone/>
            </a:pPr>
            <a:r>
              <a:rPr lang="en-US" sz="6600" dirty="0" err="1"/>
              <a:t>strings.sort</a:t>
            </a:r>
            <a:r>
              <a:rPr lang="en-US" sz="6600" dirty="0"/>
              <a:t>(key=lambda x: </a:t>
            </a:r>
            <a:r>
              <a:rPr lang="en-US" sz="6600" dirty="0" err="1"/>
              <a:t>len</a:t>
            </a:r>
            <a:r>
              <a:rPr lang="en-US" sz="6600" dirty="0"/>
              <a:t>(set(list(x)))</a:t>
            </a:r>
          </a:p>
          <a:p>
            <a:pPr marL="0" indent="0">
              <a:buNone/>
            </a:pPr>
            <a:r>
              <a:rPr lang="en-US" sz="6600" dirty="0"/>
              <a:t>strings</a:t>
            </a:r>
          </a:p>
          <a:p>
            <a:r>
              <a:rPr lang="en-US" sz="6600" dirty="0"/>
              <a:t>Output: </a:t>
            </a:r>
          </a:p>
          <a:p>
            <a:pPr marL="0" indent="0">
              <a:buNone/>
            </a:pPr>
            <a:r>
              <a:rPr lang="en-US" sz="6600" dirty="0">
                <a:sym typeface="Wingdings" panose="05000000000000000000" pitchFamily="2" charset="2"/>
              </a:rPr>
              <a:t> </a:t>
            </a:r>
            <a:r>
              <a:rPr lang="en-US" sz="6600" dirty="0"/>
              <a:t>[‘</a:t>
            </a:r>
            <a:r>
              <a:rPr lang="en-US" sz="6600" dirty="0" err="1"/>
              <a:t>aaaa</a:t>
            </a:r>
            <a:r>
              <a:rPr lang="en-US" sz="6600" dirty="0"/>
              <a:t>’, ‘foo’, ‘</a:t>
            </a:r>
            <a:r>
              <a:rPr lang="en-US" sz="6600" dirty="0" err="1"/>
              <a:t>abab</a:t>
            </a:r>
            <a:r>
              <a:rPr lang="en-US" sz="6600" dirty="0"/>
              <a:t>’, ‘bar’, ‘card’]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219F1D-272B-123C-34A4-B7EF84938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300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7"/>
            <a:ext cx="9906000" cy="809080"/>
          </a:xfrm>
        </p:spPr>
        <p:txBody>
          <a:bodyPr/>
          <a:lstStyle/>
          <a:p>
            <a:pPr algn="ctr"/>
            <a:r>
              <a:rPr lang="en-US"/>
              <a:t>functions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7909" y="1428207"/>
            <a:ext cx="9457507" cy="618307"/>
          </a:xfrm>
        </p:spPr>
        <p:txBody>
          <a:bodyPr>
            <a:noAutofit/>
          </a:bodyPr>
          <a:lstStyle/>
          <a:p>
            <a:r>
              <a:rPr lang="en-US" sz="2800"/>
              <a:t>Errors and exception handling</a:t>
            </a:r>
            <a:endParaRPr 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3337" y="2342606"/>
            <a:ext cx="9384074" cy="3997234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/>
              <a:t>Handling Python errors or exceptions is an important part in building robust programs.</a:t>
            </a:r>
            <a:endParaRPr lang="en-US" sz="7400" dirty="0"/>
          </a:p>
          <a:p>
            <a:r>
              <a:rPr lang="en-US" sz="7400" dirty="0"/>
              <a:t>Example:</a:t>
            </a:r>
          </a:p>
          <a:p>
            <a:pPr marL="457200" lvl="1" indent="0">
              <a:buNone/>
            </a:pPr>
            <a:r>
              <a:rPr lang="en-US" sz="6000" dirty="0"/>
              <a:t>pi = ‘3.14159’</a:t>
            </a:r>
          </a:p>
          <a:p>
            <a:pPr marL="457200" lvl="1" indent="0">
              <a:buNone/>
            </a:pPr>
            <a:r>
              <a:rPr lang="en-US" sz="6000" dirty="0"/>
              <a:t>float(pi)</a:t>
            </a:r>
          </a:p>
          <a:p>
            <a:r>
              <a:rPr lang="en-US" sz="6400" dirty="0"/>
              <a:t>Output: 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sz="6000" dirty="0"/>
              <a:t> 3.14159</a:t>
            </a:r>
          </a:p>
          <a:p>
            <a:r>
              <a:rPr lang="en-US" sz="7600" dirty="0"/>
              <a:t>Example:</a:t>
            </a:r>
          </a:p>
          <a:p>
            <a:pPr marL="457200" lvl="1" indent="0">
              <a:buNone/>
            </a:pPr>
            <a:r>
              <a:rPr lang="en-US" sz="6000" dirty="0"/>
              <a:t>float(‘this is a text’)</a:t>
            </a:r>
          </a:p>
          <a:p>
            <a:r>
              <a:rPr lang="en-US" sz="6400" dirty="0"/>
              <a:t>Output: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sz="6000" dirty="0"/>
              <a:t> </a:t>
            </a:r>
            <a:r>
              <a:rPr lang="en-US" sz="6000" dirty="0" err="1"/>
              <a:t>ValueError</a:t>
            </a:r>
            <a:endParaRPr lang="en-US" sz="6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E8A82-68E1-2867-CADE-78BAC3930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804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7"/>
            <a:ext cx="9906000" cy="809080"/>
          </a:xfrm>
        </p:spPr>
        <p:txBody>
          <a:bodyPr/>
          <a:lstStyle/>
          <a:p>
            <a:pPr algn="ctr"/>
            <a:r>
              <a:rPr lang="en-US" dirty="0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A1F-5EC9-B7C4-065C-CA73B682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0525" y="1428207"/>
            <a:ext cx="9744891" cy="618307"/>
          </a:xfrm>
        </p:spPr>
        <p:txBody>
          <a:bodyPr>
            <a:noAutofit/>
          </a:bodyPr>
          <a:lstStyle/>
          <a:p>
            <a:r>
              <a:rPr lang="en-US" sz="2800" dirty="0"/>
              <a:t>Errors and exception handling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0527" y="2342606"/>
            <a:ext cx="4815840" cy="3997234"/>
          </a:xfrm>
        </p:spPr>
        <p:txBody>
          <a:bodyPr>
            <a:normAutofit/>
          </a:bodyPr>
          <a:lstStyle/>
          <a:p>
            <a:r>
              <a:rPr lang="en-US" b="1" dirty="0"/>
              <a:t>try/except </a:t>
            </a:r>
            <a:r>
              <a:rPr lang="en-US" dirty="0"/>
              <a:t>block – handles errors gracefully</a:t>
            </a:r>
          </a:p>
          <a:p>
            <a:pPr marL="457200" lvl="1" indent="0">
              <a:buNone/>
            </a:pPr>
            <a:r>
              <a:rPr lang="en-US" dirty="0"/>
              <a:t>def </a:t>
            </a:r>
            <a:r>
              <a:rPr lang="en-US" dirty="0" err="1"/>
              <a:t>attempt_float</a:t>
            </a:r>
            <a:r>
              <a:rPr lang="en-US" dirty="0"/>
              <a:t>(x)</a:t>
            </a:r>
          </a:p>
          <a:p>
            <a:pPr marL="457200" lvl="1" indent="0">
              <a:buNone/>
            </a:pPr>
            <a:r>
              <a:rPr lang="en-US" dirty="0"/>
              <a:t>    try:</a:t>
            </a:r>
          </a:p>
          <a:p>
            <a:pPr marL="457200" lvl="1" indent="0">
              <a:buNone/>
            </a:pPr>
            <a:r>
              <a:rPr lang="en-US" dirty="0"/>
              <a:t>        return float(x)</a:t>
            </a:r>
          </a:p>
          <a:p>
            <a:pPr marL="457200" lvl="1" indent="0">
              <a:buNone/>
            </a:pPr>
            <a:r>
              <a:rPr lang="en-US" dirty="0"/>
              <a:t>    except:</a:t>
            </a:r>
          </a:p>
          <a:p>
            <a:pPr marL="457200" lvl="1" indent="0">
              <a:buNone/>
            </a:pPr>
            <a:r>
              <a:rPr lang="en-US" dirty="0"/>
              <a:t>        return x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52633D4-4757-DF3C-29C0-0FCC2052E7E7}"/>
              </a:ext>
            </a:extLst>
          </p:cNvPr>
          <p:cNvSpPr txBox="1">
            <a:spLocks/>
          </p:cNvSpPr>
          <p:nvPr/>
        </p:nvSpPr>
        <p:spPr>
          <a:xfrm>
            <a:off x="6357257" y="2342605"/>
            <a:ext cx="5325304" cy="3914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pi = ‘3.14159’</a:t>
            </a:r>
          </a:p>
          <a:p>
            <a:pPr marL="457200" lvl="1" indent="0">
              <a:buNone/>
            </a:pPr>
            <a:r>
              <a:rPr lang="en-US" dirty="0"/>
              <a:t>float(pi)</a:t>
            </a:r>
          </a:p>
          <a:p>
            <a:r>
              <a:rPr lang="en-US" sz="2000" dirty="0"/>
              <a:t>Output: 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dirty="0"/>
              <a:t> 3.14159</a:t>
            </a:r>
          </a:p>
          <a:p>
            <a:r>
              <a:rPr lang="en-US" sz="2000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float(‘This is a text’)</a:t>
            </a:r>
          </a:p>
          <a:p>
            <a:r>
              <a:rPr lang="en-US" sz="2000" dirty="0"/>
              <a:t>Output: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dirty="0"/>
              <a:t> ‘This is a text’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151CE0-3811-F243-0536-56B67D446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688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Files and the operating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10E971-7046-9ADF-59AB-21C14ABAE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936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10E971-7046-9ADF-59AB-21C14ABAE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3EC31CB-AE89-D41F-48B5-48FB2034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19127"/>
            <a:ext cx="9906000" cy="809080"/>
          </a:xfrm>
        </p:spPr>
        <p:txBody>
          <a:bodyPr/>
          <a:lstStyle/>
          <a:p>
            <a:pPr algn="ctr"/>
            <a:r>
              <a:rPr lang="en-US" dirty="0"/>
              <a:t>Files METHODS AND FUNCTIONS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8E5EF87-33BD-A122-ABA7-1C82F45B086F}"/>
              </a:ext>
            </a:extLst>
          </p:cNvPr>
          <p:cNvSpPr txBox="1">
            <a:spLocks/>
          </p:cNvSpPr>
          <p:nvPr/>
        </p:nvSpPr>
        <p:spPr>
          <a:xfrm>
            <a:off x="940526" y="2011681"/>
            <a:ext cx="6162023" cy="4036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Opens a file for reading or writing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Creates file objects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Example:</a:t>
            </a:r>
          </a:p>
          <a:p>
            <a:r>
              <a:rPr lang="en-US" sz="2800" dirty="0"/>
              <a:t>   </a:t>
            </a:r>
            <a:r>
              <a:rPr lang="en-US" sz="2400" dirty="0"/>
              <a:t>with open(</a:t>
            </a:r>
            <a:r>
              <a:rPr lang="en-US" sz="2400" dirty="0" err="1"/>
              <a:t>path_to_file</a:t>
            </a:r>
            <a:r>
              <a:rPr lang="en-US" sz="2400" dirty="0"/>
              <a:t>, encoding=‘utf-8’) as f:</a:t>
            </a:r>
          </a:p>
          <a:p>
            <a:pPr lvl="1"/>
            <a:r>
              <a:rPr lang="en-US" sz="2400" dirty="0"/>
              <a:t>    lines = [</a:t>
            </a:r>
            <a:r>
              <a:rPr lang="en-US" sz="2400" dirty="0" err="1"/>
              <a:t>x.rstrip</a:t>
            </a:r>
            <a:r>
              <a:rPr lang="en-US" sz="2400" dirty="0"/>
              <a:t>() for x in f]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1998C06-AE48-508D-C459-2FD11B2E75AF}"/>
              </a:ext>
            </a:extLst>
          </p:cNvPr>
          <p:cNvSpPr txBox="1">
            <a:spLocks/>
          </p:cNvSpPr>
          <p:nvPr/>
        </p:nvSpPr>
        <p:spPr>
          <a:xfrm>
            <a:off x="7541341" y="2526466"/>
            <a:ext cx="3594743" cy="3730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read </a:t>
            </a:r>
          </a:p>
          <a:p>
            <a:pPr marL="457200" lvl="1" indent="0">
              <a:buNone/>
            </a:pPr>
            <a:r>
              <a:rPr lang="en-US" dirty="0"/>
              <a:t>file = open(</a:t>
            </a:r>
            <a:r>
              <a:rPr lang="en-US" dirty="0" err="1"/>
              <a:t>path_to_file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 err="1"/>
              <a:t>file.read</a:t>
            </a:r>
            <a:r>
              <a:rPr lang="en-US" dirty="0"/>
              <a:t>()</a:t>
            </a:r>
          </a:p>
          <a:p>
            <a:r>
              <a:rPr lang="en-US" dirty="0"/>
              <a:t>write </a:t>
            </a:r>
          </a:p>
          <a:p>
            <a:pPr marL="457200" lvl="1" indent="0">
              <a:buNone/>
            </a:pPr>
            <a:r>
              <a:rPr lang="en-US" dirty="0" err="1"/>
              <a:t>file.read</a:t>
            </a:r>
            <a:r>
              <a:rPr lang="en-US" dirty="0"/>
              <a:t>()</a:t>
            </a:r>
          </a:p>
          <a:p>
            <a:r>
              <a:rPr lang="en-US" dirty="0"/>
              <a:t>close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file.read</a:t>
            </a:r>
            <a:r>
              <a:rPr lang="en-US" sz="2000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62C0D9B-4E93-3AB8-A32B-E00E82F84A53}"/>
              </a:ext>
            </a:extLst>
          </p:cNvPr>
          <p:cNvSpPr txBox="1">
            <a:spLocks/>
          </p:cNvSpPr>
          <p:nvPr/>
        </p:nvSpPr>
        <p:spPr>
          <a:xfrm>
            <a:off x="1055915" y="1572768"/>
            <a:ext cx="4963888" cy="87782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OPEN BUILT-IN FUNCTION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C3F83A0F-0628-48AD-0B37-5A69DE1FFA67}"/>
              </a:ext>
            </a:extLst>
          </p:cNvPr>
          <p:cNvSpPr txBox="1">
            <a:spLocks/>
          </p:cNvSpPr>
          <p:nvPr/>
        </p:nvSpPr>
        <p:spPr>
          <a:xfrm>
            <a:off x="7393857" y="1428206"/>
            <a:ext cx="4001623" cy="7053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b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Common File methods</a:t>
            </a:r>
          </a:p>
        </p:txBody>
      </p:sp>
    </p:spTree>
    <p:extLst>
      <p:ext uri="{BB962C8B-B14F-4D97-AF65-F5344CB8AC3E}">
        <p14:creationId xmlns:p14="http://schemas.microsoft.com/office/powerpoint/2010/main" val="3039545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6F4DB1-4568-E07E-3DA6-753EC21BB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n-US" sz="4000"/>
              <a:t>references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E7311-3373-F925-9B93-D752FAE44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en-US" sz="2800" dirty="0"/>
              <a:t>McKinney, W. (2022). </a:t>
            </a:r>
            <a:r>
              <a:rPr lang="en-US" sz="2800" i="1" u="sng" dirty="0"/>
              <a:t>Python for Data Analysis: Data Wrangling with Pandas, </a:t>
            </a:r>
            <a:r>
              <a:rPr lang="en-US" sz="2800" i="1" u="sng" dirty="0" err="1"/>
              <a:t>Numpy</a:t>
            </a:r>
            <a:r>
              <a:rPr lang="en-US" sz="2800" i="1" u="sng" dirty="0"/>
              <a:t>, and </a:t>
            </a:r>
            <a:r>
              <a:rPr lang="en-US" sz="2800" i="1" u="sng" dirty="0" err="1"/>
              <a:t>IPython</a:t>
            </a:r>
            <a:r>
              <a:rPr lang="en-US" sz="2800" i="1" u="sng" dirty="0"/>
              <a:t>.</a:t>
            </a:r>
            <a:r>
              <a:rPr lang="en-US" sz="2800" dirty="0"/>
              <a:t> O’Reilly. (ISBN: 1-0981-0402-1)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83348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34106153-7990-4956-BD26-A04A03006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2">
            <a:extLst>
              <a:ext uri="{FF2B5EF4-FFF2-40B4-BE49-F238E27FC236}">
                <a16:creationId xmlns:a16="http://schemas.microsoft.com/office/drawing/2014/main" id="{BDEA11A5-20BA-4650-A324-47C0465FF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866FCB64-0A37-46EB-8A9B-EC0C4C000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1" name="Rectangle 5">
              <a:extLst>
                <a:ext uri="{FF2B5EF4-FFF2-40B4-BE49-F238E27FC236}">
                  <a16:creationId xmlns:a16="http://schemas.microsoft.com/office/drawing/2014/main" id="{8A162E18-5BEB-4E42-9B10-A1FDF6A0B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7BB781C9-EC32-45FE-ACE7-C24F128C4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927C5647-36E8-4A20-86D4-47831D50C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8">
              <a:extLst>
                <a:ext uri="{FF2B5EF4-FFF2-40B4-BE49-F238E27FC236}">
                  <a16:creationId xmlns:a16="http://schemas.microsoft.com/office/drawing/2014/main" id="{62F2AF20-CBBE-4249-B9E2-D6B30191C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731C1229-F8A7-4B36-A52B-98A65EF86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609AC686-2DBB-4D82-866C-9FF222BDD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F899E6EB-BCDD-45D2-BF4B-9CA3A2798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BBD3AAC8-2330-4FAB-8E31-3D50AD954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6B54F723-A70A-4865-A560-7850498A1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9B911CCD-C9A2-4DC8-A278-3C6FD76A7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D559B729-03FB-435D-89BF-AF57A801B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D1C90213-0F60-4268-BE48-8221E6161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A7A6A293-A06F-48B8-865A-3F65287B8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8F6861B5-AAA4-4017-929E-1FD1CA106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D776D07C-2081-4DD3-A464-40F3CA41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BBC236D6-77E5-4B3C-92D7-D708B237D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8064714E-7ADE-4BD9-8981-34C135762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2FD1F23F-B1EE-46F5-B460-924E54A70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9699361A-3AFF-4826-B99C-0354EAB0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B272F7B1-7BE2-4FC9-BB91-207EFD9E6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CDE59C1F-AFD9-4DD5-B04A-9EB2AAED5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1551E418-6CD4-4320-8224-F084039C5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1F27D4B1-EBD4-4BC9-AC2E-3AD616C84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C42B8D84-898A-4F76-A0F2-5699ED72B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B440932E-7985-4BA6-9899-F22A64485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B8CE969-CA1A-48CB-8588-4146F41F3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138A4875-4593-4894-89D5-DFCFF0EED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F079F26B-58E4-494E-A8BA-3F054F1F3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33">
              <a:extLst>
                <a:ext uri="{FF2B5EF4-FFF2-40B4-BE49-F238E27FC236}">
                  <a16:creationId xmlns:a16="http://schemas.microsoft.com/office/drawing/2014/main" id="{04C9ECC5-BB4A-4417-B874-B75953F84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4">
              <a:extLst>
                <a:ext uri="{FF2B5EF4-FFF2-40B4-BE49-F238E27FC236}">
                  <a16:creationId xmlns:a16="http://schemas.microsoft.com/office/drawing/2014/main" id="{4CCCF285-B51D-4A2F-8384-830A39171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5">
              <a:extLst>
                <a:ext uri="{FF2B5EF4-FFF2-40B4-BE49-F238E27FC236}">
                  <a16:creationId xmlns:a16="http://schemas.microsoft.com/office/drawing/2014/main" id="{BD6C6299-A09A-47DF-8A96-69D39FCA5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6">
              <a:extLst>
                <a:ext uri="{FF2B5EF4-FFF2-40B4-BE49-F238E27FC236}">
                  <a16:creationId xmlns:a16="http://schemas.microsoft.com/office/drawing/2014/main" id="{EE60C4B9-C404-42CD-8E94-70D4DC16A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7">
              <a:extLst>
                <a:ext uri="{FF2B5EF4-FFF2-40B4-BE49-F238E27FC236}">
                  <a16:creationId xmlns:a16="http://schemas.microsoft.com/office/drawing/2014/main" id="{52BD4447-C1EB-4798-8764-AB93EA930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8">
              <a:extLst>
                <a:ext uri="{FF2B5EF4-FFF2-40B4-BE49-F238E27FC236}">
                  <a16:creationId xmlns:a16="http://schemas.microsoft.com/office/drawing/2014/main" id="{50411559-C414-4F7C-BC6C-69F87BC9C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39">
              <a:extLst>
                <a:ext uri="{FF2B5EF4-FFF2-40B4-BE49-F238E27FC236}">
                  <a16:creationId xmlns:a16="http://schemas.microsoft.com/office/drawing/2014/main" id="{64737770-BB27-41C0-95CB-529054508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0">
              <a:extLst>
                <a:ext uri="{FF2B5EF4-FFF2-40B4-BE49-F238E27FC236}">
                  <a16:creationId xmlns:a16="http://schemas.microsoft.com/office/drawing/2014/main" id="{28929FDB-16CF-4165-B32A-EB673EFB7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1">
              <a:extLst>
                <a:ext uri="{FF2B5EF4-FFF2-40B4-BE49-F238E27FC236}">
                  <a16:creationId xmlns:a16="http://schemas.microsoft.com/office/drawing/2014/main" id="{D8C82883-237C-4209-9545-E832FEE3A8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2">
              <a:extLst>
                <a:ext uri="{FF2B5EF4-FFF2-40B4-BE49-F238E27FC236}">
                  <a16:creationId xmlns:a16="http://schemas.microsoft.com/office/drawing/2014/main" id="{F1A52653-BD09-4D65-B05C-2AF4A6473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3">
              <a:extLst>
                <a:ext uri="{FF2B5EF4-FFF2-40B4-BE49-F238E27FC236}">
                  <a16:creationId xmlns:a16="http://schemas.microsoft.com/office/drawing/2014/main" id="{30724E80-2FD3-4E4A-A3EA-18A4C8886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4">
              <a:extLst>
                <a:ext uri="{FF2B5EF4-FFF2-40B4-BE49-F238E27FC236}">
                  <a16:creationId xmlns:a16="http://schemas.microsoft.com/office/drawing/2014/main" id="{F1B978C7-7BC5-4F73-8B02-66A3CF67C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Rectangle 45">
              <a:extLst>
                <a:ext uri="{FF2B5EF4-FFF2-40B4-BE49-F238E27FC236}">
                  <a16:creationId xmlns:a16="http://schemas.microsoft.com/office/drawing/2014/main" id="{799F0CED-DF8F-4350-A036-1981FBE59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46">
              <a:extLst>
                <a:ext uri="{FF2B5EF4-FFF2-40B4-BE49-F238E27FC236}">
                  <a16:creationId xmlns:a16="http://schemas.microsoft.com/office/drawing/2014/main" id="{9F4DD366-0E86-4E99-9557-496E88B42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47">
              <a:extLst>
                <a:ext uri="{FF2B5EF4-FFF2-40B4-BE49-F238E27FC236}">
                  <a16:creationId xmlns:a16="http://schemas.microsoft.com/office/drawing/2014/main" id="{78BB3321-D5DC-4951-AB38-0C54E3D01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48">
              <a:extLst>
                <a:ext uri="{FF2B5EF4-FFF2-40B4-BE49-F238E27FC236}">
                  <a16:creationId xmlns:a16="http://schemas.microsoft.com/office/drawing/2014/main" id="{955E548C-7F86-45B2-A0D2-03EAC578D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49">
              <a:extLst>
                <a:ext uri="{FF2B5EF4-FFF2-40B4-BE49-F238E27FC236}">
                  <a16:creationId xmlns:a16="http://schemas.microsoft.com/office/drawing/2014/main" id="{0013F508-5E69-4911-AD93-4ABE3E7C5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0">
              <a:extLst>
                <a:ext uri="{FF2B5EF4-FFF2-40B4-BE49-F238E27FC236}">
                  <a16:creationId xmlns:a16="http://schemas.microsoft.com/office/drawing/2014/main" id="{A7F86768-93E0-4044-A62A-B11EB18FF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1">
              <a:extLst>
                <a:ext uri="{FF2B5EF4-FFF2-40B4-BE49-F238E27FC236}">
                  <a16:creationId xmlns:a16="http://schemas.microsoft.com/office/drawing/2014/main" id="{BA32A7B4-1DB2-4E4A-B86E-D8DB97B69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2">
              <a:extLst>
                <a:ext uri="{FF2B5EF4-FFF2-40B4-BE49-F238E27FC236}">
                  <a16:creationId xmlns:a16="http://schemas.microsoft.com/office/drawing/2014/main" id="{AB250BD5-076C-4428-B6AF-E9EAE4F65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3">
              <a:extLst>
                <a:ext uri="{FF2B5EF4-FFF2-40B4-BE49-F238E27FC236}">
                  <a16:creationId xmlns:a16="http://schemas.microsoft.com/office/drawing/2014/main" id="{027DA06A-045F-4711-9307-0508B6ACF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4">
              <a:extLst>
                <a:ext uri="{FF2B5EF4-FFF2-40B4-BE49-F238E27FC236}">
                  <a16:creationId xmlns:a16="http://schemas.microsoft.com/office/drawing/2014/main" id="{3EB0EDA8-385A-4B2B-97F0-5194F23EB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5">
              <a:extLst>
                <a:ext uri="{FF2B5EF4-FFF2-40B4-BE49-F238E27FC236}">
                  <a16:creationId xmlns:a16="http://schemas.microsoft.com/office/drawing/2014/main" id="{D6FA258E-AF3F-47C9-9F4E-39ECFD7AC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56">
              <a:extLst>
                <a:ext uri="{FF2B5EF4-FFF2-40B4-BE49-F238E27FC236}">
                  <a16:creationId xmlns:a16="http://schemas.microsoft.com/office/drawing/2014/main" id="{6E471E73-A9C0-4C68-BD8F-360F2ED7B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57">
              <a:extLst>
                <a:ext uri="{FF2B5EF4-FFF2-40B4-BE49-F238E27FC236}">
                  <a16:creationId xmlns:a16="http://schemas.microsoft.com/office/drawing/2014/main" id="{C78C3110-8153-4163-B809-0B0C0C9E5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58">
              <a:extLst>
                <a:ext uri="{FF2B5EF4-FFF2-40B4-BE49-F238E27FC236}">
                  <a16:creationId xmlns:a16="http://schemas.microsoft.com/office/drawing/2014/main" id="{DBC57B9F-0B9B-4EDE-B3B3-7C5D5DB39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1073BA-CAE4-8E85-D3C4-076DBCB1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5" y="1113282"/>
            <a:ext cx="373494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Thank you!</a:t>
            </a:r>
          </a:p>
        </p:txBody>
      </p:sp>
      <p:sp useBgFill="1">
        <p:nvSpPr>
          <p:cNvPr id="126" name="Round Diagonal Corner Rectangle 6">
            <a:extLst>
              <a:ext uri="{FF2B5EF4-FFF2-40B4-BE49-F238E27FC236}">
                <a16:creationId xmlns:a16="http://schemas.microsoft.com/office/drawing/2014/main" id="{62B94F88-FD5B-4053-B143-DFF55CE44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6B741-6E59-A15A-B86C-61F5A59B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96" y="1199257"/>
            <a:ext cx="4635583" cy="445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4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3519</TotalTime>
  <Words>3600</Words>
  <Application>Microsoft Office PowerPoint</Application>
  <PresentationFormat>Widescreen</PresentationFormat>
  <Paragraphs>466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Circuit</vt:lpstr>
      <vt:lpstr>Module 2:  Python Data Structures, Functions, and Files</vt:lpstr>
      <vt:lpstr>AGENDA</vt:lpstr>
      <vt:lpstr>Data structures and sequences AND USEFUL Built-in Functions</vt:lpstr>
      <vt:lpstr>LIST</vt:lpstr>
      <vt:lpstr>List</vt:lpstr>
      <vt:lpstr>List</vt:lpstr>
      <vt:lpstr>List METHODS</vt:lpstr>
      <vt:lpstr>List</vt:lpstr>
      <vt:lpstr>List</vt:lpstr>
      <vt:lpstr>List</vt:lpstr>
      <vt:lpstr>List BUILT-IN FUNCTION</vt:lpstr>
      <vt:lpstr>Tuples</vt:lpstr>
      <vt:lpstr>Tuples</vt:lpstr>
      <vt:lpstr>TUPLES</vt:lpstr>
      <vt:lpstr>TUPLES</vt:lpstr>
      <vt:lpstr>Unpacking tuples</vt:lpstr>
      <vt:lpstr>Unpacking tuples</vt:lpstr>
      <vt:lpstr>Tuple Methods</vt:lpstr>
      <vt:lpstr>Dictionary</vt:lpstr>
      <vt:lpstr>Dictionary</vt:lpstr>
      <vt:lpstr>Dictionary</vt:lpstr>
      <vt:lpstr>Dictionary METHODS</vt:lpstr>
      <vt:lpstr>Dictionary METHODS</vt:lpstr>
      <vt:lpstr>Dictionary METHODS</vt:lpstr>
      <vt:lpstr>set</vt:lpstr>
      <vt:lpstr>Set METHODS</vt:lpstr>
      <vt:lpstr>List, set, &amp; dict comprehensions</vt:lpstr>
      <vt:lpstr>List, set, &amp; dict comprehensions</vt:lpstr>
      <vt:lpstr>User-defined 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Files and the operating system</vt:lpstr>
      <vt:lpstr>Files METHODS AND FUNCTIONS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 Python Data Structures, Functions, and Files</dc:title>
  <dc:creator>Catherine Ata</dc:creator>
  <cp:lastModifiedBy>Catherine Ata</cp:lastModifiedBy>
  <cp:revision>648</cp:revision>
  <dcterms:created xsi:type="dcterms:W3CDTF">2024-06-04T16:42:17Z</dcterms:created>
  <dcterms:modified xsi:type="dcterms:W3CDTF">2024-10-11T18:39:26Z</dcterms:modified>
</cp:coreProperties>
</file>